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2" r:id="rId2"/>
    <p:sldId id="258" r:id="rId3"/>
    <p:sldId id="259" r:id="rId4"/>
    <p:sldId id="260" r:id="rId5"/>
    <p:sldId id="261"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4660"/>
  </p:normalViewPr>
  <p:slideViewPr>
    <p:cSldViewPr snapToGrid="0">
      <p:cViewPr varScale="1">
        <p:scale>
          <a:sx n="69" d="100"/>
          <a:sy n="69" d="100"/>
        </p:scale>
        <p:origin x="780"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5" name="Footer Placeholder 4"/>
          <p:cNvSpPr>
            <a:spLocks noGrp="1"/>
          </p:cNvSpPr>
          <p:nvPr>
            <p:ph type="ftr" sz="quarter" idx="11"/>
          </p:nvPr>
        </p:nvSpPr>
        <p:spPr>
          <a:xfrm>
            <a:off x="2416500" y="329307"/>
            <a:ext cx="4973915" cy="309201"/>
          </a:xfrm>
        </p:spPr>
        <p:txBody>
          <a:bodyPr/>
          <a:lstStyle/>
          <a:p>
            <a:endParaRPr lang="en-IN" dirty="0"/>
          </a:p>
        </p:txBody>
      </p:sp>
      <p:sp>
        <p:nvSpPr>
          <p:cNvPr id="6" name="Slide Number Placeholder 5"/>
          <p:cNvSpPr>
            <a:spLocks noGrp="1"/>
          </p:cNvSpPr>
          <p:nvPr>
            <p:ph type="sldNum" sz="quarter" idx="12"/>
          </p:nvPr>
        </p:nvSpPr>
        <p:spPr>
          <a:xfrm>
            <a:off x="1437664" y="798973"/>
            <a:ext cx="811019" cy="503578"/>
          </a:xfrm>
        </p:spPr>
        <p:txBody>
          <a:bodyPr/>
          <a:lstStyle/>
          <a:p>
            <a:fld id="{F709E287-E1D5-4123-93FB-AE604AABEFE1}" type="slidenum">
              <a:rPr lang="en-IN" smtClean="0"/>
              <a:t>‹#›</a:t>
            </a:fld>
            <a:endParaRPr lang="en-IN" dirty="0"/>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449520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F709E287-E1D5-4123-93FB-AE604AABEFE1}" type="slidenum">
              <a:rPr lang="en-IN" smtClean="0"/>
              <a:t>‹#›</a:t>
            </a:fld>
            <a:endParaRPr lang="en-IN" dirty="0"/>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2714770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F709E287-E1D5-4123-93FB-AE604AABEFE1}" type="slidenum">
              <a:rPr lang="en-IN" smtClean="0"/>
              <a:t>‹#›</a:t>
            </a:fld>
            <a:endParaRPr lang="en-IN" dirty="0"/>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0436366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F709E287-E1D5-4123-93FB-AE604AABEFE1}" type="slidenum">
              <a:rPr lang="en-IN" smtClean="0"/>
              <a:t>‹#›</a:t>
            </a:fld>
            <a:endParaRPr lang="en-IN" dirty="0"/>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260057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8" name="Footer Placeholder 7"/>
          <p:cNvSpPr>
            <a:spLocks noGrp="1"/>
          </p:cNvSpPr>
          <p:nvPr>
            <p:ph type="ftr" sz="quarter" idx="11"/>
          </p:nvPr>
        </p:nvSpPr>
        <p:spPr/>
        <p:txBody>
          <a:bodyPr/>
          <a:lstStyle/>
          <a:p>
            <a:endParaRPr lang="en-IN" dirty="0"/>
          </a:p>
        </p:txBody>
      </p:sp>
      <p:sp>
        <p:nvSpPr>
          <p:cNvPr id="9" name="Slide Number Placeholder 8"/>
          <p:cNvSpPr>
            <a:spLocks noGrp="1"/>
          </p:cNvSpPr>
          <p:nvPr>
            <p:ph type="sldNum" sz="quarter" idx="12"/>
          </p:nvPr>
        </p:nvSpPr>
        <p:spPr/>
        <p:txBody>
          <a:bodyPr/>
          <a:lstStyle/>
          <a:p>
            <a:fld id="{F709E287-E1D5-4123-93FB-AE604AABEFE1}" type="slidenum">
              <a:rPr lang="en-IN" smtClean="0"/>
              <a:t>‹#›</a:t>
            </a:fld>
            <a:endParaRPr lang="en-IN" dirty="0"/>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7027308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4" name="Footer Placeholder 3"/>
          <p:cNvSpPr>
            <a:spLocks noGrp="1"/>
          </p:cNvSpPr>
          <p:nvPr>
            <p:ph type="ftr" sz="quarter" idx="11"/>
          </p:nvPr>
        </p:nvSpPr>
        <p:spPr/>
        <p:txBody>
          <a:bodyPr/>
          <a:lstStyle/>
          <a:p>
            <a:endParaRPr lang="en-IN" dirty="0"/>
          </a:p>
        </p:txBody>
      </p:sp>
      <p:sp>
        <p:nvSpPr>
          <p:cNvPr id="5" name="Slide Number Placeholder 4"/>
          <p:cNvSpPr>
            <a:spLocks noGrp="1"/>
          </p:cNvSpPr>
          <p:nvPr>
            <p:ph type="sldNum" sz="quarter" idx="12"/>
          </p:nvPr>
        </p:nvSpPr>
        <p:spPr/>
        <p:txBody>
          <a:bodyPr/>
          <a:lstStyle/>
          <a:p>
            <a:fld id="{F709E287-E1D5-4123-93FB-AE604AABEFE1}" type="slidenum">
              <a:rPr lang="en-IN" smtClean="0"/>
              <a:t>‹#›</a:t>
            </a:fld>
            <a:endParaRPr lang="en-IN" dirty="0"/>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55736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3" name="Footer Placeholder 2"/>
          <p:cNvSpPr>
            <a:spLocks noGrp="1"/>
          </p:cNvSpPr>
          <p:nvPr>
            <p:ph type="ftr" sz="quarter" idx="11"/>
          </p:nvPr>
        </p:nvSpPr>
        <p:spPr/>
        <p:txBody>
          <a:bodyPr/>
          <a:lstStyle/>
          <a:p>
            <a:endParaRPr lang="en-IN" dirty="0"/>
          </a:p>
        </p:txBody>
      </p:sp>
      <p:sp>
        <p:nvSpPr>
          <p:cNvPr id="4" name="Slide Number Placeholder 3"/>
          <p:cNvSpPr>
            <a:spLocks noGrp="1"/>
          </p:cNvSpPr>
          <p:nvPr>
            <p:ph type="sldNum" sz="quarter" idx="12"/>
          </p:nvPr>
        </p:nvSpPr>
        <p:spPr/>
        <p:txBody>
          <a:bodyPr/>
          <a:lstStyle/>
          <a:p>
            <a:fld id="{F709E287-E1D5-4123-93FB-AE604AABEFE1}" type="slidenum">
              <a:rPr lang="en-IN" smtClean="0"/>
              <a:t>‹#›</a:t>
            </a:fld>
            <a:endParaRPr lang="en-IN" dirty="0"/>
          </a:p>
        </p:txBody>
      </p:sp>
    </p:spTree>
    <p:extLst>
      <p:ext uri="{BB962C8B-B14F-4D97-AF65-F5344CB8AC3E}">
        <p14:creationId xmlns:p14="http://schemas.microsoft.com/office/powerpoint/2010/main" val="1476112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F709E287-E1D5-4123-93FB-AE604AABEFE1}" type="slidenum">
              <a:rPr lang="en-IN" smtClean="0"/>
              <a:t>‹#›</a:t>
            </a:fld>
            <a:endParaRPr lang="en-IN" dirty="0"/>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901477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516AE82C-64B8-46AB-BE8D-F92FBCF277AD}" type="datetimeFigureOut">
              <a:rPr lang="en-IN" smtClean="0"/>
              <a:t>28-08-2026</a:t>
            </a:fld>
            <a:endParaRPr lang="en-IN" dirty="0"/>
          </a:p>
        </p:txBody>
      </p:sp>
      <p:sp>
        <p:nvSpPr>
          <p:cNvPr id="6" name="Footer Placeholder 5"/>
          <p:cNvSpPr>
            <a:spLocks noGrp="1"/>
          </p:cNvSpPr>
          <p:nvPr>
            <p:ph type="ftr" sz="quarter" idx="11"/>
          </p:nvPr>
        </p:nvSpPr>
        <p:spPr>
          <a:xfrm>
            <a:off x="1447382" y="318640"/>
            <a:ext cx="5541004" cy="320931"/>
          </a:xfrm>
        </p:spPr>
        <p:txBody>
          <a:bodyPr/>
          <a:lstStyle/>
          <a:p>
            <a:endParaRPr lang="en-IN" dirty="0"/>
          </a:p>
        </p:txBody>
      </p:sp>
      <p:sp>
        <p:nvSpPr>
          <p:cNvPr id="7" name="Slide Number Placeholder 6"/>
          <p:cNvSpPr>
            <a:spLocks noGrp="1"/>
          </p:cNvSpPr>
          <p:nvPr>
            <p:ph type="sldNum" sz="quarter" idx="12"/>
          </p:nvPr>
        </p:nvSpPr>
        <p:spPr/>
        <p:txBody>
          <a:bodyPr/>
          <a:lstStyle/>
          <a:p>
            <a:fld id="{F709E287-E1D5-4123-93FB-AE604AABEFE1}" type="slidenum">
              <a:rPr lang="en-IN" smtClean="0"/>
              <a:t>‹#›</a:t>
            </a:fld>
            <a:endParaRPr lang="en-IN" dirty="0"/>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872291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F709E287-E1D5-4123-93FB-AE604AABEFE1}" type="slidenum">
              <a:rPr lang="en-IN" smtClean="0"/>
              <a:t>‹#›</a:t>
            </a:fld>
            <a:endParaRPr lang="en-IN" dirty="0"/>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4084857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16AE82C-64B8-46AB-BE8D-F92FBCF277AD}" type="datetimeFigureOut">
              <a:rPr lang="en-IN" smtClean="0"/>
              <a:t>28-08-2026</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F709E287-E1D5-4123-93FB-AE604AABEFE1}" type="slidenum">
              <a:rPr lang="en-IN" smtClean="0"/>
              <a:t>‹#›</a:t>
            </a:fld>
            <a:endParaRPr lang="en-IN" dirty="0"/>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782828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516AE82C-64B8-46AB-BE8D-F92FBCF277AD}" type="datetimeFigureOut">
              <a:rPr lang="en-IN" smtClean="0"/>
              <a:t>28-08-2026</a:t>
            </a:fld>
            <a:endParaRPr lang="en-IN" dirty="0"/>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IN" dirty="0"/>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F709E287-E1D5-4123-93FB-AE604AABEFE1}" type="slidenum">
              <a:rPr lang="en-IN" smtClean="0"/>
              <a:t>‹#›</a:t>
            </a:fld>
            <a:endParaRPr lang="en-IN" dirty="0"/>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849193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E866A1-7791-91A0-7B3A-3BA31CAF0DC0}"/>
              </a:ext>
            </a:extLst>
          </p:cNvPr>
          <p:cNvSpPr txBox="1"/>
          <p:nvPr/>
        </p:nvSpPr>
        <p:spPr>
          <a:xfrm>
            <a:off x="3422073" y="1745673"/>
            <a:ext cx="5347854" cy="2062103"/>
          </a:xfrm>
          <a:prstGeom prst="rect">
            <a:avLst/>
          </a:prstGeom>
          <a:noFill/>
        </p:spPr>
        <p:txBody>
          <a:bodyPr wrap="square" rtlCol="0">
            <a:spAutoFit/>
          </a:bodyPr>
          <a:lstStyle/>
          <a:p>
            <a:r>
              <a:rPr lang="en-IN" sz="3200" dirty="0"/>
              <a:t>NAME : INDUJA K</a:t>
            </a:r>
          </a:p>
          <a:p>
            <a:r>
              <a:rPr lang="en-IN" sz="3200" dirty="0"/>
              <a:t>REG NO :  T9921</a:t>
            </a:r>
          </a:p>
          <a:p>
            <a:r>
              <a:rPr lang="en-IN" sz="3200" dirty="0"/>
              <a:t>COLLEGE : VIT VELLORE</a:t>
            </a:r>
          </a:p>
          <a:p>
            <a:r>
              <a:rPr lang="en-IN" sz="3200" dirty="0"/>
              <a:t>COURSE : M.TECH (AIML)</a:t>
            </a:r>
          </a:p>
        </p:txBody>
      </p:sp>
    </p:spTree>
    <p:extLst>
      <p:ext uri="{BB962C8B-B14F-4D97-AF65-F5344CB8AC3E}">
        <p14:creationId xmlns:p14="http://schemas.microsoft.com/office/powerpoint/2010/main" val="18894177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C493F1-8F9D-4D11-B9AF-DC6C17705937}"/>
              </a:ext>
            </a:extLst>
          </p:cNvPr>
          <p:cNvSpPr txBox="1"/>
          <p:nvPr/>
        </p:nvSpPr>
        <p:spPr>
          <a:xfrm>
            <a:off x="1741113" y="254639"/>
            <a:ext cx="8772525" cy="1107996"/>
          </a:xfrm>
          <a:prstGeom prst="rect">
            <a:avLst/>
          </a:prstGeom>
          <a:noFill/>
        </p:spPr>
        <p:txBody>
          <a:bodyPr wrap="square" rtlCol="0">
            <a:spAutoFit/>
          </a:bodyPr>
          <a:lstStyle/>
          <a:p>
            <a:r>
              <a:rPr lang="en-US" sz="2400" b="1" dirty="0">
                <a:latin typeface="Bahnschrift SemiBold SemiConden" panose="020B0502040204020203" pitchFamily="34" charset="0"/>
              </a:rPr>
              <a:t>TruthLens-RAG: An Evidence-Grounded RAG Framework for Explainable </a:t>
            </a:r>
          </a:p>
          <a:p>
            <a:r>
              <a:rPr lang="en-US" sz="2400" b="1" dirty="0">
                <a:latin typeface="Bahnschrift SemiBold SemiConden" panose="020B0502040204020203" pitchFamily="34" charset="0"/>
              </a:rPr>
              <a:t>                  Fake News Detection and Claim Verification</a:t>
            </a:r>
            <a:endParaRPr lang="en-IN" sz="2400" dirty="0"/>
          </a:p>
          <a:p>
            <a:endParaRPr lang="en-IN" dirty="0"/>
          </a:p>
        </p:txBody>
      </p:sp>
      <p:sp>
        <p:nvSpPr>
          <p:cNvPr id="4" name="TextBox 3">
            <a:extLst>
              <a:ext uri="{FF2B5EF4-FFF2-40B4-BE49-F238E27FC236}">
                <a16:creationId xmlns:a16="http://schemas.microsoft.com/office/drawing/2014/main" id="{E18E7184-0CEC-4EE5-A9C2-F3D999E8D505}"/>
              </a:ext>
            </a:extLst>
          </p:cNvPr>
          <p:cNvSpPr txBox="1"/>
          <p:nvPr/>
        </p:nvSpPr>
        <p:spPr>
          <a:xfrm>
            <a:off x="457200" y="1362635"/>
            <a:ext cx="11340353" cy="3754874"/>
          </a:xfrm>
          <a:prstGeom prst="rect">
            <a:avLst/>
          </a:prstGeom>
          <a:noFill/>
        </p:spPr>
        <p:txBody>
          <a:bodyPr wrap="square" rtlCol="0">
            <a:spAutoFit/>
          </a:bodyPr>
          <a:lstStyle/>
          <a:p>
            <a:pPr marL="342900" indent="-342900">
              <a:buFont typeface="Wingdings" panose="05000000000000000000" pitchFamily="2" charset="2"/>
              <a:buChar char="q"/>
            </a:pPr>
            <a:r>
              <a:rPr lang="en-US" sz="2000" u="sng" dirty="0">
                <a:latin typeface="Bahnschrift SemiBold SemiConden" panose="020B0502040204020203" pitchFamily="34" charset="0"/>
              </a:rPr>
              <a:t>Problem Statement:</a:t>
            </a:r>
            <a:br>
              <a:rPr lang="en-US" sz="2000" u="sng" dirty="0">
                <a:latin typeface="Agency FB" panose="020B0503020202020204" pitchFamily="34" charset="0"/>
              </a:rPr>
            </a:br>
            <a:br>
              <a:rPr lang="en-US" sz="2000" dirty="0"/>
            </a:br>
            <a:r>
              <a:rPr lang="en-US" sz="1800" dirty="0">
                <a:cs typeface="Arial" panose="020B0604020202020204" pitchFamily="34" charset="0"/>
              </a:rPr>
              <a:t>The rapid spread of fake and misleading news through social media, websites, and digital platforms makes it difficult for users to determine whether an online claim is trustworthy. Existing fake-news detection systems often provide only a “Fake/Real” prediction without showing the supporting evidence or clearly explaining how the decision was made.</a:t>
            </a:r>
            <a:br>
              <a:rPr lang="en-US" sz="1800" dirty="0">
                <a:cs typeface="Arial" panose="020B0604020202020204" pitchFamily="34" charset="0"/>
              </a:rPr>
            </a:br>
            <a:br>
              <a:rPr lang="en-US" sz="1800" dirty="0">
                <a:cs typeface="Arial" panose="020B0604020202020204" pitchFamily="34" charset="0"/>
              </a:rPr>
            </a:br>
            <a:r>
              <a:rPr lang="en-US" sz="1800" dirty="0">
                <a:cs typeface="Arial" panose="020B0604020202020204" pitchFamily="34" charset="0"/>
              </a:rPr>
              <a:t>TruthLens-RAG addresses this problem by developing an evidence-grounded AI system that retrieves relevant information from trusted sources, verifies the claim against the retrieved evidence, identifies whether the claim is supported, contradicted, or misleading, and provides an explainable credibility assessment with source references.</a:t>
            </a:r>
            <a:br>
              <a:rPr lang="en-US" sz="1800" dirty="0">
                <a:cs typeface="Arial" panose="020B0604020202020204" pitchFamily="34" charset="0"/>
              </a:rPr>
            </a:br>
            <a:br>
              <a:rPr lang="en-US" sz="1800" dirty="0">
                <a:latin typeface="Arial Narrow" panose="020B0606020202030204" pitchFamily="34" charset="0"/>
              </a:rPr>
            </a:br>
            <a:br>
              <a:rPr lang="en-US" sz="1800" dirty="0">
                <a:latin typeface="Arial Narrow" panose="020B0606020202030204" pitchFamily="34" charset="0"/>
              </a:rPr>
            </a:br>
            <a:endParaRPr lang="en-IN" dirty="0"/>
          </a:p>
        </p:txBody>
      </p:sp>
      <p:sp>
        <p:nvSpPr>
          <p:cNvPr id="6" name="TextBox 5">
            <a:extLst>
              <a:ext uri="{FF2B5EF4-FFF2-40B4-BE49-F238E27FC236}">
                <a16:creationId xmlns:a16="http://schemas.microsoft.com/office/drawing/2014/main" id="{891E4453-7774-495F-9C2A-EA17F2D9AE58}"/>
              </a:ext>
            </a:extLst>
          </p:cNvPr>
          <p:cNvSpPr txBox="1"/>
          <p:nvPr/>
        </p:nvSpPr>
        <p:spPr>
          <a:xfrm>
            <a:off x="484094" y="4644827"/>
            <a:ext cx="11107270" cy="1508105"/>
          </a:xfrm>
          <a:prstGeom prst="rect">
            <a:avLst/>
          </a:prstGeom>
          <a:noFill/>
        </p:spPr>
        <p:txBody>
          <a:bodyPr wrap="square" rtlCol="0">
            <a:spAutoFit/>
          </a:bodyPr>
          <a:lstStyle/>
          <a:p>
            <a:pPr marL="342900" indent="-342900">
              <a:buFont typeface="Wingdings" panose="05000000000000000000" pitchFamily="2" charset="2"/>
              <a:buChar char="q"/>
            </a:pPr>
            <a:r>
              <a:rPr lang="en-US" sz="2000" u="sng" dirty="0">
                <a:latin typeface="Bahnschrift SemiBold SemiConden" panose="020B0502040204020203" pitchFamily="34" charset="0"/>
              </a:rPr>
              <a:t>Objective:</a:t>
            </a:r>
          </a:p>
          <a:p>
            <a:endParaRPr lang="en-US" dirty="0"/>
          </a:p>
          <a:p>
            <a:r>
              <a:rPr lang="en-US" dirty="0"/>
              <a:t>The main objective of TruthLens-RAG is to develop an evidence-grounded, explainable AI system for verifying</a:t>
            </a:r>
          </a:p>
          <a:p>
            <a:r>
              <a:rPr lang="en-US" dirty="0"/>
              <a:t>online news claims using Retrieval-Augmented Generation (RAG)</a:t>
            </a:r>
          </a:p>
          <a:p>
            <a:endParaRPr lang="en-IN" dirty="0"/>
          </a:p>
        </p:txBody>
      </p:sp>
    </p:spTree>
    <p:extLst>
      <p:ext uri="{BB962C8B-B14F-4D97-AF65-F5344CB8AC3E}">
        <p14:creationId xmlns:p14="http://schemas.microsoft.com/office/powerpoint/2010/main" val="4092105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106000"/>
              </a:schemeClr>
            </a:gs>
            <a:gs pos="100000">
              <a:schemeClr val="bg2">
                <a:shade val="80000"/>
              </a:schemeClr>
            </a:gs>
          </a:gsLst>
          <a:path path="circle">
            <a:fillToRect l="100000" t="100000"/>
          </a:path>
          <a:tileRect r="-100000" b="-100000"/>
        </a:gradFill>
        <a:effectLst/>
      </p:bgPr>
    </p:bg>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65571CC-E1DF-480D-ABE8-169805E69302}"/>
              </a:ext>
            </a:extLst>
          </p:cNvPr>
          <p:cNvGraphicFramePr>
            <a:graphicFrameLocks noGrp="1"/>
          </p:cNvGraphicFramePr>
          <p:nvPr>
            <p:extLst>
              <p:ext uri="{D42A27DB-BD31-4B8C-83A1-F6EECF244321}">
                <p14:modId xmlns:p14="http://schemas.microsoft.com/office/powerpoint/2010/main" val="2911003509"/>
              </p:ext>
            </p:extLst>
          </p:nvPr>
        </p:nvGraphicFramePr>
        <p:xfrm>
          <a:off x="6167720" y="232180"/>
          <a:ext cx="5640480" cy="5856273"/>
        </p:xfrm>
        <a:graphic>
          <a:graphicData uri="http://schemas.openxmlformats.org/drawingml/2006/table">
            <a:tbl>
              <a:tblPr>
                <a:tableStyleId>{3C2FFA5D-87B4-456A-9821-1D502468CF0F}</a:tableStyleId>
              </a:tblPr>
              <a:tblGrid>
                <a:gridCol w="1880160">
                  <a:extLst>
                    <a:ext uri="{9D8B030D-6E8A-4147-A177-3AD203B41FA5}">
                      <a16:colId xmlns:a16="http://schemas.microsoft.com/office/drawing/2014/main" val="2880872576"/>
                    </a:ext>
                  </a:extLst>
                </a:gridCol>
                <a:gridCol w="1880160">
                  <a:extLst>
                    <a:ext uri="{9D8B030D-6E8A-4147-A177-3AD203B41FA5}">
                      <a16:colId xmlns:a16="http://schemas.microsoft.com/office/drawing/2014/main" val="369865120"/>
                    </a:ext>
                  </a:extLst>
                </a:gridCol>
                <a:gridCol w="1880160">
                  <a:extLst>
                    <a:ext uri="{9D8B030D-6E8A-4147-A177-3AD203B41FA5}">
                      <a16:colId xmlns:a16="http://schemas.microsoft.com/office/drawing/2014/main" val="2984590341"/>
                    </a:ext>
                  </a:extLst>
                </a:gridCol>
              </a:tblGrid>
              <a:tr h="285405">
                <a:tc>
                  <a:txBody>
                    <a:bodyPr/>
                    <a:lstStyle/>
                    <a:p>
                      <a:r>
                        <a:rPr lang="en-IN" sz="1600" dirty="0"/>
                        <a:t>COMPONENT</a:t>
                      </a:r>
                    </a:p>
                  </a:txBody>
                  <a:tcPr marL="43666" marR="43666" marT="21833" marB="21833" anchor="ctr"/>
                </a:tc>
                <a:tc>
                  <a:txBody>
                    <a:bodyPr/>
                    <a:lstStyle/>
                    <a:p>
                      <a:r>
                        <a:rPr lang="en-IN" sz="1600" dirty="0"/>
                        <a:t>TECHNOLOGY</a:t>
                      </a:r>
                    </a:p>
                  </a:txBody>
                  <a:tcPr marL="43666" marR="43666" marT="21833" marB="21833" anchor="ctr"/>
                </a:tc>
                <a:tc>
                  <a:txBody>
                    <a:bodyPr/>
                    <a:lstStyle/>
                    <a:p>
                      <a:r>
                        <a:rPr lang="en-IN" sz="1600" dirty="0"/>
                        <a:t>PURPOSE</a:t>
                      </a:r>
                    </a:p>
                  </a:txBody>
                  <a:tcPr marL="43666" marR="43666" marT="21833" marB="21833" anchor="ctr"/>
                </a:tc>
                <a:extLst>
                  <a:ext uri="{0D108BD9-81ED-4DB2-BD59-A6C34878D82A}">
                    <a16:rowId xmlns:a16="http://schemas.microsoft.com/office/drawing/2014/main" val="3763064887"/>
                  </a:ext>
                </a:extLst>
              </a:tr>
              <a:tr h="511895">
                <a:tc>
                  <a:txBody>
                    <a:bodyPr/>
                    <a:lstStyle/>
                    <a:p>
                      <a:r>
                        <a:rPr lang="en-IN" sz="1600" b="1" dirty="0"/>
                        <a:t>Programming Language</a:t>
                      </a:r>
                      <a:endParaRPr lang="en-IN" sz="1600" dirty="0"/>
                    </a:p>
                  </a:txBody>
                  <a:tcPr marL="43666" marR="43666" marT="21833" marB="21833" anchor="ctr"/>
                </a:tc>
                <a:tc>
                  <a:txBody>
                    <a:bodyPr/>
                    <a:lstStyle/>
                    <a:p>
                      <a:r>
                        <a:rPr lang="en-IN" sz="1600" dirty="0"/>
                        <a:t>Python</a:t>
                      </a:r>
                    </a:p>
                  </a:txBody>
                  <a:tcPr marL="43666" marR="43666" marT="21833" marB="21833" anchor="ctr"/>
                </a:tc>
                <a:tc>
                  <a:txBody>
                    <a:bodyPr/>
                    <a:lstStyle/>
                    <a:p>
                      <a:r>
                        <a:rPr lang="en-IN" sz="1600" dirty="0"/>
                        <a:t>Complete AI/RAG pipeline</a:t>
                      </a:r>
                    </a:p>
                  </a:txBody>
                  <a:tcPr marL="43666" marR="43666" marT="21833" marB="21833" anchor="ctr"/>
                </a:tc>
                <a:extLst>
                  <a:ext uri="{0D108BD9-81ED-4DB2-BD59-A6C34878D82A}">
                    <a16:rowId xmlns:a16="http://schemas.microsoft.com/office/drawing/2014/main" val="2149697848"/>
                  </a:ext>
                </a:extLst>
              </a:tr>
              <a:tr h="285405">
                <a:tc>
                  <a:txBody>
                    <a:bodyPr/>
                    <a:lstStyle/>
                    <a:p>
                      <a:r>
                        <a:rPr lang="en-IN" sz="1600" b="1" dirty="0"/>
                        <a:t>Frontend</a:t>
                      </a:r>
                      <a:endParaRPr lang="en-IN" sz="1600" dirty="0"/>
                    </a:p>
                  </a:txBody>
                  <a:tcPr marL="43666" marR="43666" marT="21833" marB="21833" anchor="ctr"/>
                </a:tc>
                <a:tc>
                  <a:txBody>
                    <a:bodyPr/>
                    <a:lstStyle/>
                    <a:p>
                      <a:r>
                        <a:rPr lang="en-IN" sz="1600" dirty="0"/>
                        <a:t>Streamlit / React</a:t>
                      </a:r>
                    </a:p>
                  </a:txBody>
                  <a:tcPr marL="43666" marR="43666" marT="21833" marB="21833" anchor="ctr"/>
                </a:tc>
                <a:tc>
                  <a:txBody>
                    <a:bodyPr/>
                    <a:lstStyle/>
                    <a:p>
                      <a:r>
                        <a:rPr lang="en-IN" sz="1600" dirty="0"/>
                        <a:t>User interface</a:t>
                      </a:r>
                    </a:p>
                  </a:txBody>
                  <a:tcPr marL="43666" marR="43666" marT="21833" marB="21833" anchor="ctr"/>
                </a:tc>
                <a:extLst>
                  <a:ext uri="{0D108BD9-81ED-4DB2-BD59-A6C34878D82A}">
                    <a16:rowId xmlns:a16="http://schemas.microsoft.com/office/drawing/2014/main" val="4256266424"/>
                  </a:ext>
                </a:extLst>
              </a:tr>
              <a:tr h="511895">
                <a:tc>
                  <a:txBody>
                    <a:bodyPr/>
                    <a:lstStyle/>
                    <a:p>
                      <a:r>
                        <a:rPr lang="en-IN" sz="1600" b="1" dirty="0"/>
                        <a:t>Backend</a:t>
                      </a:r>
                      <a:endParaRPr lang="en-IN" sz="1600" dirty="0"/>
                    </a:p>
                  </a:txBody>
                  <a:tcPr marL="43666" marR="43666" marT="21833" marB="21833" anchor="ctr"/>
                </a:tc>
                <a:tc>
                  <a:txBody>
                    <a:bodyPr/>
                    <a:lstStyle/>
                    <a:p>
                      <a:r>
                        <a:rPr lang="en-IN" sz="1600" dirty="0"/>
                        <a:t>FastAPI</a:t>
                      </a:r>
                    </a:p>
                  </a:txBody>
                  <a:tcPr marL="43666" marR="43666" marT="21833" marB="21833" anchor="ctr"/>
                </a:tc>
                <a:tc>
                  <a:txBody>
                    <a:bodyPr/>
                    <a:lstStyle/>
                    <a:p>
                      <a:r>
                        <a:rPr lang="en-IN" sz="1600" dirty="0"/>
                        <a:t>API and system integration</a:t>
                      </a:r>
                    </a:p>
                  </a:txBody>
                  <a:tcPr marL="43666" marR="43666" marT="21833" marB="21833" anchor="ctr"/>
                </a:tc>
                <a:extLst>
                  <a:ext uri="{0D108BD9-81ED-4DB2-BD59-A6C34878D82A}">
                    <a16:rowId xmlns:a16="http://schemas.microsoft.com/office/drawing/2014/main" val="809947064"/>
                  </a:ext>
                </a:extLst>
              </a:tr>
              <a:tr h="511895">
                <a:tc>
                  <a:txBody>
                    <a:bodyPr/>
                    <a:lstStyle/>
                    <a:p>
                      <a:r>
                        <a:rPr lang="en-IN" sz="1600" b="1" dirty="0"/>
                        <a:t>LLM</a:t>
                      </a:r>
                      <a:endParaRPr lang="en-IN" sz="1600" dirty="0"/>
                    </a:p>
                  </a:txBody>
                  <a:tcPr marL="43666" marR="43666" marT="21833" marB="21833" anchor="ctr"/>
                </a:tc>
                <a:tc>
                  <a:txBody>
                    <a:bodyPr/>
                    <a:lstStyle/>
                    <a:p>
                      <a:r>
                        <a:rPr lang="en-IN" sz="1600" dirty="0"/>
                        <a:t>Llama 3 / Mistral / GPT-based model</a:t>
                      </a:r>
                    </a:p>
                  </a:txBody>
                  <a:tcPr marL="43666" marR="43666" marT="21833" marB="21833" anchor="ctr"/>
                </a:tc>
                <a:tc>
                  <a:txBody>
                    <a:bodyPr/>
                    <a:lstStyle/>
                    <a:p>
                      <a:r>
                        <a:rPr lang="en-IN" sz="1600" dirty="0"/>
                        <a:t>Reasoning and explanation</a:t>
                      </a:r>
                    </a:p>
                  </a:txBody>
                  <a:tcPr marL="43666" marR="43666" marT="21833" marB="21833" anchor="ctr"/>
                </a:tc>
                <a:extLst>
                  <a:ext uri="{0D108BD9-81ED-4DB2-BD59-A6C34878D82A}">
                    <a16:rowId xmlns:a16="http://schemas.microsoft.com/office/drawing/2014/main" val="1760234566"/>
                  </a:ext>
                </a:extLst>
              </a:tr>
              <a:tr h="511895">
                <a:tc>
                  <a:txBody>
                    <a:bodyPr/>
                    <a:lstStyle/>
                    <a:p>
                      <a:r>
                        <a:rPr lang="en-IN" sz="1600" b="1" dirty="0"/>
                        <a:t>RAG Framework</a:t>
                      </a:r>
                      <a:endParaRPr lang="en-IN" sz="1600" dirty="0"/>
                    </a:p>
                  </a:txBody>
                  <a:tcPr marL="43666" marR="43666" marT="21833" marB="21833" anchor="ctr"/>
                </a:tc>
                <a:tc>
                  <a:txBody>
                    <a:bodyPr/>
                    <a:lstStyle/>
                    <a:p>
                      <a:r>
                        <a:rPr lang="en-IN" sz="1600" dirty="0"/>
                        <a:t>LangChain / LlamaIndex</a:t>
                      </a:r>
                    </a:p>
                  </a:txBody>
                  <a:tcPr marL="43666" marR="43666" marT="21833" marB="21833" anchor="ctr"/>
                </a:tc>
                <a:tc>
                  <a:txBody>
                    <a:bodyPr/>
                    <a:lstStyle/>
                    <a:p>
                      <a:r>
                        <a:rPr lang="en-IN" sz="1600" dirty="0"/>
                        <a:t>Retrieval + LLM orchestration</a:t>
                      </a:r>
                    </a:p>
                  </a:txBody>
                  <a:tcPr marL="43666" marR="43666" marT="21833" marB="21833" anchor="ctr"/>
                </a:tc>
                <a:extLst>
                  <a:ext uri="{0D108BD9-81ED-4DB2-BD59-A6C34878D82A}">
                    <a16:rowId xmlns:a16="http://schemas.microsoft.com/office/drawing/2014/main" val="2012605445"/>
                  </a:ext>
                </a:extLst>
              </a:tr>
              <a:tr h="511895">
                <a:tc>
                  <a:txBody>
                    <a:bodyPr/>
                    <a:lstStyle/>
                    <a:p>
                      <a:r>
                        <a:rPr lang="en-IN" sz="1600" b="1" dirty="0"/>
                        <a:t>Vector Database</a:t>
                      </a:r>
                      <a:endParaRPr lang="en-IN" sz="1600" dirty="0"/>
                    </a:p>
                  </a:txBody>
                  <a:tcPr marL="43666" marR="43666" marT="21833" marB="21833" anchor="ctr"/>
                </a:tc>
                <a:tc>
                  <a:txBody>
                    <a:bodyPr/>
                    <a:lstStyle/>
                    <a:p>
                      <a:r>
                        <a:rPr lang="en-IN" sz="1600" dirty="0"/>
                        <a:t>FAISS / Chroma / Qdrant</a:t>
                      </a:r>
                    </a:p>
                  </a:txBody>
                  <a:tcPr marL="43666" marR="43666" marT="21833" marB="21833" anchor="ctr"/>
                </a:tc>
                <a:tc>
                  <a:txBody>
                    <a:bodyPr/>
                    <a:lstStyle/>
                    <a:p>
                      <a:r>
                        <a:rPr lang="en-IN" sz="1600" dirty="0"/>
                        <a:t>Store and retrieve evidence</a:t>
                      </a:r>
                    </a:p>
                  </a:txBody>
                  <a:tcPr marL="43666" marR="43666" marT="21833" marB="21833" anchor="ctr"/>
                </a:tc>
                <a:extLst>
                  <a:ext uri="{0D108BD9-81ED-4DB2-BD59-A6C34878D82A}">
                    <a16:rowId xmlns:a16="http://schemas.microsoft.com/office/drawing/2014/main" val="3868283958"/>
                  </a:ext>
                </a:extLst>
              </a:tr>
              <a:tr h="746808">
                <a:tc>
                  <a:txBody>
                    <a:bodyPr/>
                    <a:lstStyle/>
                    <a:p>
                      <a:r>
                        <a:rPr lang="en-IN" sz="1600" b="1" dirty="0"/>
                        <a:t>NLP</a:t>
                      </a:r>
                      <a:endParaRPr lang="en-IN" sz="1600" dirty="0"/>
                    </a:p>
                  </a:txBody>
                  <a:tcPr marL="43666" marR="43666" marT="21833" marB="21833" anchor="ctr"/>
                </a:tc>
                <a:tc>
                  <a:txBody>
                    <a:bodyPr/>
                    <a:lstStyle/>
                    <a:p>
                      <a:r>
                        <a:rPr lang="en-IN" sz="1600" dirty="0"/>
                        <a:t>Hugging Face Transformers</a:t>
                      </a:r>
                    </a:p>
                  </a:txBody>
                  <a:tcPr marL="43666" marR="43666" marT="21833" marB="21833" anchor="ctr"/>
                </a:tc>
                <a:tc>
                  <a:txBody>
                    <a:bodyPr/>
                    <a:lstStyle/>
                    <a:p>
                      <a:r>
                        <a:rPr lang="en-IN" sz="1600" dirty="0"/>
                        <a:t>Claim extraction/classification</a:t>
                      </a:r>
                    </a:p>
                  </a:txBody>
                  <a:tcPr marL="43666" marR="43666" marT="21833" marB="21833" anchor="ctr"/>
                </a:tc>
                <a:extLst>
                  <a:ext uri="{0D108BD9-81ED-4DB2-BD59-A6C34878D82A}">
                    <a16:rowId xmlns:a16="http://schemas.microsoft.com/office/drawing/2014/main" val="3978452381"/>
                  </a:ext>
                </a:extLst>
              </a:tr>
              <a:tr h="499147">
                <a:tc>
                  <a:txBody>
                    <a:bodyPr/>
                    <a:lstStyle/>
                    <a:p>
                      <a:r>
                        <a:rPr lang="en-IN" sz="1600" b="1" dirty="0"/>
                        <a:t>Verification</a:t>
                      </a:r>
                      <a:endParaRPr lang="en-IN" sz="1600" dirty="0"/>
                    </a:p>
                  </a:txBody>
                  <a:tcPr marL="43666" marR="43666" marT="21833" marB="21833" anchor="ctr"/>
                </a:tc>
                <a:tc>
                  <a:txBody>
                    <a:bodyPr/>
                    <a:lstStyle/>
                    <a:p>
                      <a:r>
                        <a:rPr lang="en-IN" sz="1600" dirty="0"/>
                        <a:t>NLI model + LLM</a:t>
                      </a:r>
                    </a:p>
                  </a:txBody>
                  <a:tcPr marL="43666" marR="43666" marT="21833" marB="21833" anchor="ctr"/>
                </a:tc>
                <a:tc>
                  <a:txBody>
                    <a:bodyPr/>
                    <a:lstStyle/>
                    <a:p>
                      <a:r>
                        <a:rPr lang="en-IN" sz="1600" dirty="0"/>
                        <a:t>Determine support</a:t>
                      </a:r>
                    </a:p>
                  </a:txBody>
                  <a:tcPr marL="43666" marR="43666" marT="21833" marB="21833" anchor="ctr"/>
                </a:tc>
                <a:extLst>
                  <a:ext uri="{0D108BD9-81ED-4DB2-BD59-A6C34878D82A}">
                    <a16:rowId xmlns:a16="http://schemas.microsoft.com/office/drawing/2014/main" val="4163621134"/>
                  </a:ext>
                </a:extLst>
              </a:tr>
              <a:tr h="511895">
                <a:tc>
                  <a:txBody>
                    <a:bodyPr/>
                    <a:lstStyle/>
                    <a:p>
                      <a:r>
                        <a:rPr lang="en-IN" sz="1600" b="1" dirty="0"/>
                        <a:t>Database</a:t>
                      </a:r>
                      <a:endParaRPr lang="en-IN" sz="1600" dirty="0"/>
                    </a:p>
                  </a:txBody>
                  <a:tcPr marL="43666" marR="43666" marT="21833" marB="21833" anchor="ctr"/>
                </a:tc>
                <a:tc>
                  <a:txBody>
                    <a:bodyPr/>
                    <a:lstStyle/>
                    <a:p>
                      <a:r>
                        <a:rPr lang="en-IN" sz="1600" dirty="0"/>
                        <a:t>PostgreSQL</a:t>
                      </a:r>
                    </a:p>
                  </a:txBody>
                  <a:tcPr marL="43666" marR="43666" marT="21833" marB="21833" anchor="ctr"/>
                </a:tc>
                <a:tc>
                  <a:txBody>
                    <a:bodyPr/>
                    <a:lstStyle/>
                    <a:p>
                      <a:r>
                        <a:rPr lang="en-IN" sz="1600" dirty="0"/>
                        <a:t>Store claims, results, metadata</a:t>
                      </a:r>
                    </a:p>
                  </a:txBody>
                  <a:tcPr marL="43666" marR="43666" marT="21833" marB="21833" anchor="ctr"/>
                </a:tc>
                <a:extLst>
                  <a:ext uri="{0D108BD9-81ED-4DB2-BD59-A6C34878D82A}">
                    <a16:rowId xmlns:a16="http://schemas.microsoft.com/office/drawing/2014/main" val="2823679848"/>
                  </a:ext>
                </a:extLst>
              </a:tr>
              <a:tr h="511895">
                <a:tc>
                  <a:txBody>
                    <a:bodyPr/>
                    <a:lstStyle/>
                    <a:p>
                      <a:r>
                        <a:rPr lang="en-IN" sz="1600" b="1" dirty="0"/>
                        <a:t>Deployment</a:t>
                      </a:r>
                      <a:endParaRPr lang="en-IN" sz="1600" dirty="0"/>
                    </a:p>
                  </a:txBody>
                  <a:tcPr marL="43666" marR="43666" marT="21833" marB="21833" anchor="ctr"/>
                </a:tc>
                <a:tc>
                  <a:txBody>
                    <a:bodyPr/>
                    <a:lstStyle/>
                    <a:p>
                      <a:r>
                        <a:rPr lang="en-IN" sz="1600" dirty="0"/>
                        <a:t>Docker + cloud/local server</a:t>
                      </a:r>
                    </a:p>
                  </a:txBody>
                  <a:tcPr marL="43666" marR="43666" marT="21833" marB="21833" anchor="ctr"/>
                </a:tc>
                <a:tc>
                  <a:txBody>
                    <a:bodyPr/>
                    <a:lstStyle/>
                    <a:p>
                      <a:r>
                        <a:rPr lang="en-IN" sz="1600" dirty="0"/>
                        <a:t>Deploy the application</a:t>
                      </a:r>
                    </a:p>
                  </a:txBody>
                  <a:tcPr marL="43666" marR="43666" marT="21833" marB="21833" anchor="ctr"/>
                </a:tc>
                <a:extLst>
                  <a:ext uri="{0D108BD9-81ED-4DB2-BD59-A6C34878D82A}">
                    <a16:rowId xmlns:a16="http://schemas.microsoft.com/office/drawing/2014/main" val="4246123312"/>
                  </a:ext>
                </a:extLst>
              </a:tr>
              <a:tr h="285405">
                <a:tc>
                  <a:txBody>
                    <a:bodyPr/>
                    <a:lstStyle/>
                    <a:p>
                      <a:r>
                        <a:rPr lang="en-IN" sz="1600" b="1" dirty="0"/>
                        <a:t>Version Control</a:t>
                      </a:r>
                      <a:endParaRPr lang="en-IN" sz="1600" dirty="0"/>
                    </a:p>
                  </a:txBody>
                  <a:tcPr marL="43666" marR="43666" marT="21833" marB="21833" anchor="ctr"/>
                </a:tc>
                <a:tc>
                  <a:txBody>
                    <a:bodyPr/>
                    <a:lstStyle/>
                    <a:p>
                      <a:r>
                        <a:rPr lang="en-IN" sz="1600" dirty="0"/>
                        <a:t>Git + GitHub</a:t>
                      </a:r>
                    </a:p>
                  </a:txBody>
                  <a:tcPr marL="43666" marR="43666" marT="21833" marB="21833" anchor="ctr"/>
                </a:tc>
                <a:tc>
                  <a:txBody>
                    <a:bodyPr/>
                    <a:lstStyle/>
                    <a:p>
                      <a:r>
                        <a:rPr lang="en-IN" sz="1600" dirty="0"/>
                        <a:t>Code management</a:t>
                      </a:r>
                    </a:p>
                  </a:txBody>
                  <a:tcPr marL="43666" marR="43666" marT="21833" marB="21833" anchor="ctr"/>
                </a:tc>
                <a:extLst>
                  <a:ext uri="{0D108BD9-81ED-4DB2-BD59-A6C34878D82A}">
                    <a16:rowId xmlns:a16="http://schemas.microsoft.com/office/drawing/2014/main" val="451512200"/>
                  </a:ext>
                </a:extLst>
              </a:tr>
            </a:tbl>
          </a:graphicData>
        </a:graphic>
      </p:graphicFrame>
      <p:sp>
        <p:nvSpPr>
          <p:cNvPr id="3" name="TextBox 2">
            <a:extLst>
              <a:ext uri="{FF2B5EF4-FFF2-40B4-BE49-F238E27FC236}">
                <a16:creationId xmlns:a16="http://schemas.microsoft.com/office/drawing/2014/main" id="{B7F1F106-7325-4D98-A458-9B059DB89121}"/>
              </a:ext>
            </a:extLst>
          </p:cNvPr>
          <p:cNvSpPr txBox="1"/>
          <p:nvPr/>
        </p:nvSpPr>
        <p:spPr>
          <a:xfrm>
            <a:off x="537882" y="3128962"/>
            <a:ext cx="5486400" cy="1508105"/>
          </a:xfrm>
          <a:prstGeom prst="rect">
            <a:avLst/>
          </a:prstGeom>
          <a:noFill/>
        </p:spPr>
        <p:txBody>
          <a:bodyPr wrap="square" rtlCol="0">
            <a:spAutoFit/>
          </a:bodyPr>
          <a:lstStyle/>
          <a:p>
            <a:pPr marL="342900" indent="-342900">
              <a:buFont typeface="Wingdings" panose="05000000000000000000" pitchFamily="2" charset="2"/>
              <a:buChar char="q"/>
            </a:pPr>
            <a:r>
              <a:rPr lang="en-US" sz="2000" u="sng" dirty="0">
                <a:latin typeface="Bahnschrift SemiBold SemiConden" panose="020B0502040204020203" pitchFamily="34" charset="0"/>
              </a:rPr>
              <a:t>Outcome:</a:t>
            </a:r>
          </a:p>
          <a:p>
            <a:r>
              <a:rPr lang="en-US" dirty="0"/>
              <a:t>The expected outcome of  TruthLens-RAG is a working RAG-based intelligent fact-verification system that can analyze a news claim, retrieve relevant evidence, verify the claim, and provide an explainable result</a:t>
            </a:r>
            <a:endParaRPr lang="en-IN" dirty="0"/>
          </a:p>
        </p:txBody>
      </p:sp>
      <p:sp>
        <p:nvSpPr>
          <p:cNvPr id="4" name="TextBox 3">
            <a:extLst>
              <a:ext uri="{FF2B5EF4-FFF2-40B4-BE49-F238E27FC236}">
                <a16:creationId xmlns:a16="http://schemas.microsoft.com/office/drawing/2014/main" id="{C5230404-6E3A-4B5B-8B3F-42B9BD899D17}"/>
              </a:ext>
            </a:extLst>
          </p:cNvPr>
          <p:cNvSpPr txBox="1"/>
          <p:nvPr/>
        </p:nvSpPr>
        <p:spPr>
          <a:xfrm>
            <a:off x="609600" y="1006495"/>
            <a:ext cx="5184121" cy="2031325"/>
          </a:xfrm>
          <a:prstGeom prst="rect">
            <a:avLst/>
          </a:prstGeom>
          <a:noFill/>
        </p:spPr>
        <p:txBody>
          <a:bodyPr wrap="square" rtlCol="0">
            <a:spAutoFit/>
          </a:bodyPr>
          <a:lstStyle/>
          <a:p>
            <a:r>
              <a:rPr lang="en-US" dirty="0"/>
              <a:t>1. Detect potentially false or misleading claims</a:t>
            </a:r>
          </a:p>
          <a:p>
            <a:r>
              <a:rPr lang="en-US" dirty="0"/>
              <a:t>2. Automatically extract factual claims</a:t>
            </a:r>
          </a:p>
          <a:p>
            <a:r>
              <a:rPr lang="en-US" dirty="0"/>
              <a:t>3. Build a trusted knowledge base</a:t>
            </a:r>
            <a:endParaRPr lang="en-IN" dirty="0"/>
          </a:p>
          <a:p>
            <a:r>
              <a:rPr lang="en-US" dirty="0"/>
              <a:t>4. Retrieve relevant evidence using RAG</a:t>
            </a:r>
            <a:endParaRPr lang="en-IN" dirty="0"/>
          </a:p>
          <a:p>
            <a:r>
              <a:rPr lang="en-US" dirty="0"/>
              <a:t>5. Compare claims against retrieved evidence</a:t>
            </a:r>
            <a:endParaRPr lang="en-IN" dirty="0"/>
          </a:p>
          <a:p>
            <a:r>
              <a:rPr lang="en-IN" dirty="0"/>
              <a:t>6. Assess source reliability</a:t>
            </a:r>
          </a:p>
          <a:p>
            <a:endParaRPr lang="en-IN" dirty="0"/>
          </a:p>
        </p:txBody>
      </p:sp>
    </p:spTree>
    <p:extLst>
      <p:ext uri="{BB962C8B-B14F-4D97-AF65-F5344CB8AC3E}">
        <p14:creationId xmlns:p14="http://schemas.microsoft.com/office/powerpoint/2010/main" val="30537920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92E313-6E18-4F50-92EF-6815FD6A55BF}"/>
              </a:ext>
            </a:extLst>
          </p:cNvPr>
          <p:cNvSpPr txBox="1"/>
          <p:nvPr/>
        </p:nvSpPr>
        <p:spPr>
          <a:xfrm>
            <a:off x="708209" y="228618"/>
            <a:ext cx="11170024" cy="830997"/>
          </a:xfrm>
          <a:prstGeom prst="rect">
            <a:avLst/>
          </a:prstGeom>
          <a:noFill/>
        </p:spPr>
        <p:txBody>
          <a:bodyPr wrap="square">
            <a:spAutoFit/>
          </a:bodyPr>
          <a:lstStyle/>
          <a:p>
            <a:r>
              <a:rPr lang="en-IN" sz="2400" dirty="0">
                <a:latin typeface="Bahnschrift SemiBold SemiConden" panose="020B0502040204020203" pitchFamily="34" charset="0"/>
              </a:rPr>
              <a:t>                FraudGuard-Agent: A Multi-Agent Autonomous Framework for </a:t>
            </a:r>
          </a:p>
          <a:p>
            <a:r>
              <a:rPr lang="en-IN" sz="2400" dirty="0">
                <a:latin typeface="Bahnschrift SemiBold SemiConden" panose="020B0502040204020203" pitchFamily="34" charset="0"/>
              </a:rPr>
              <a:t>          Real-Time Financial Fraud Detection, Investigation, and Decision Support</a:t>
            </a:r>
          </a:p>
        </p:txBody>
      </p:sp>
      <p:sp>
        <p:nvSpPr>
          <p:cNvPr id="5" name="TextBox 4">
            <a:extLst>
              <a:ext uri="{FF2B5EF4-FFF2-40B4-BE49-F238E27FC236}">
                <a16:creationId xmlns:a16="http://schemas.microsoft.com/office/drawing/2014/main" id="{E6A996DF-A731-4336-83FF-EB2557D4B70E}"/>
              </a:ext>
            </a:extLst>
          </p:cNvPr>
          <p:cNvSpPr txBox="1"/>
          <p:nvPr/>
        </p:nvSpPr>
        <p:spPr>
          <a:xfrm>
            <a:off x="708210" y="1338677"/>
            <a:ext cx="10963838" cy="2123658"/>
          </a:xfrm>
          <a:prstGeom prst="rect">
            <a:avLst/>
          </a:prstGeom>
          <a:noFill/>
        </p:spPr>
        <p:txBody>
          <a:bodyPr wrap="square">
            <a:spAutoFit/>
          </a:bodyPr>
          <a:lstStyle/>
          <a:p>
            <a:pPr marL="342900" indent="-342900">
              <a:buFont typeface="Wingdings" panose="05000000000000000000" pitchFamily="2" charset="2"/>
              <a:buChar char="q"/>
            </a:pPr>
            <a:r>
              <a:rPr lang="en-US" sz="2000" u="sng" dirty="0">
                <a:latin typeface="Bahnschrift SemiBold SemiConden" panose="020B0502040204020203" pitchFamily="34" charset="0"/>
              </a:rPr>
              <a:t>Problem Statement:</a:t>
            </a:r>
            <a:br>
              <a:rPr lang="en-US" sz="2000" u="sng" dirty="0">
                <a:latin typeface="Agency FB" panose="020B0503020202020204" pitchFamily="34" charset="0"/>
              </a:rPr>
            </a:br>
            <a:endParaRPr lang="en-US" sz="2000" u="sng" dirty="0">
              <a:latin typeface="Agency FB" panose="020B0503020202020204" pitchFamily="34" charset="0"/>
            </a:endParaRPr>
          </a:p>
          <a:p>
            <a:pPr algn="just"/>
            <a:r>
              <a:rPr lang="en-US" dirty="0">
                <a:latin typeface="+mj-lt"/>
              </a:rPr>
              <a:t>The rapid growth of digital payments and online banking has increased the risk of fraudulent financial transactions. Traditional fraud detection systems mainly rely on predefined rules or individual machine-learning models to identify suspicious transactions. Although these approaches can detect certain fraud patterns, they may struggle with new and evolving fraud behaviours, highly imbalanced transaction data, false alarms, and lack of clear explanations.</a:t>
            </a:r>
          </a:p>
          <a:p>
            <a:r>
              <a:rPr lang="en-US" sz="2000" u="sng" dirty="0">
                <a:latin typeface="Agency FB" panose="020B0503020202020204" pitchFamily="34" charset="0"/>
              </a:rPr>
              <a:t>        </a:t>
            </a:r>
            <a:endParaRPr lang="en-US" sz="2000" dirty="0">
              <a:latin typeface="Agency FB" panose="020B0503020202020204" pitchFamily="34" charset="0"/>
            </a:endParaRPr>
          </a:p>
        </p:txBody>
      </p:sp>
      <p:sp>
        <p:nvSpPr>
          <p:cNvPr id="7" name="TextBox 6">
            <a:extLst>
              <a:ext uri="{FF2B5EF4-FFF2-40B4-BE49-F238E27FC236}">
                <a16:creationId xmlns:a16="http://schemas.microsoft.com/office/drawing/2014/main" id="{1DDB45CD-58EF-49C8-AC57-A6A2B608C06C}"/>
              </a:ext>
            </a:extLst>
          </p:cNvPr>
          <p:cNvSpPr txBox="1"/>
          <p:nvPr/>
        </p:nvSpPr>
        <p:spPr>
          <a:xfrm>
            <a:off x="758637" y="3197802"/>
            <a:ext cx="10811433" cy="646331"/>
          </a:xfrm>
          <a:prstGeom prst="rect">
            <a:avLst/>
          </a:prstGeom>
          <a:noFill/>
        </p:spPr>
        <p:txBody>
          <a:bodyPr wrap="square">
            <a:spAutoFit/>
          </a:bodyPr>
          <a:lstStyle/>
          <a:p>
            <a:r>
              <a:rPr lang="en-US" sz="1800" dirty="0"/>
              <a:t>FraudGuard-Agent addresses this problem by using a multi-agent Agentic AI architecture in which specialized AI agents collaboratively detect, investigate, analyse, explain, and assess suspicious financial transactions in real time.</a:t>
            </a:r>
          </a:p>
        </p:txBody>
      </p:sp>
      <p:sp>
        <p:nvSpPr>
          <p:cNvPr id="9" name="TextBox 8">
            <a:extLst>
              <a:ext uri="{FF2B5EF4-FFF2-40B4-BE49-F238E27FC236}">
                <a16:creationId xmlns:a16="http://schemas.microsoft.com/office/drawing/2014/main" id="{0FFEABAB-5702-4559-8846-4F6A69198949}"/>
              </a:ext>
            </a:extLst>
          </p:cNvPr>
          <p:cNvSpPr txBox="1"/>
          <p:nvPr/>
        </p:nvSpPr>
        <p:spPr>
          <a:xfrm>
            <a:off x="708209" y="3948027"/>
            <a:ext cx="10963838" cy="1538883"/>
          </a:xfrm>
          <a:prstGeom prst="rect">
            <a:avLst/>
          </a:prstGeom>
          <a:noFill/>
        </p:spPr>
        <p:txBody>
          <a:bodyPr wrap="square">
            <a:spAutoFit/>
          </a:bodyPr>
          <a:lstStyle/>
          <a:p>
            <a:pPr marL="342900" indent="-342900">
              <a:buFont typeface="Wingdings" panose="05000000000000000000" pitchFamily="2" charset="2"/>
              <a:buChar char="q"/>
            </a:pPr>
            <a:r>
              <a:rPr lang="en-IN" sz="2000" u="sng" dirty="0">
                <a:latin typeface="Bahnschrift SemiBold SemiConden" panose="020B0502040204020203" pitchFamily="34" charset="0"/>
              </a:rPr>
              <a:t>Objective:</a:t>
            </a:r>
          </a:p>
          <a:p>
            <a:endParaRPr lang="en-IN" sz="2000" u="sng" dirty="0">
              <a:latin typeface="Bahnschrift SemiBold SemiConden" panose="020B0502040204020203" pitchFamily="34" charset="0"/>
            </a:endParaRPr>
          </a:p>
          <a:p>
            <a:r>
              <a:rPr lang="en-IN" dirty="0"/>
              <a:t>The main objective of this project is to develop an intelligent multi-agent system that can detect suspicious financial transactions and automatically support the complete fraud investigation process, rather than only classifying a transaction as fraudulent or legitimate.</a:t>
            </a:r>
          </a:p>
        </p:txBody>
      </p:sp>
    </p:spTree>
    <p:extLst>
      <p:ext uri="{BB962C8B-B14F-4D97-AF65-F5344CB8AC3E}">
        <p14:creationId xmlns:p14="http://schemas.microsoft.com/office/powerpoint/2010/main" val="17718572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D8003BFA-8E8F-4212-A584-9A59E442E991}"/>
              </a:ext>
            </a:extLst>
          </p:cNvPr>
          <p:cNvGraphicFramePr>
            <a:graphicFrameLocks noGrp="1"/>
          </p:cNvGraphicFramePr>
          <p:nvPr>
            <p:extLst>
              <p:ext uri="{D42A27DB-BD31-4B8C-83A1-F6EECF244321}">
                <p14:modId xmlns:p14="http://schemas.microsoft.com/office/powerpoint/2010/main" val="437230415"/>
              </p:ext>
            </p:extLst>
          </p:nvPr>
        </p:nvGraphicFramePr>
        <p:xfrm>
          <a:off x="138545" y="205550"/>
          <a:ext cx="5375563" cy="5869056"/>
        </p:xfrm>
        <a:graphic>
          <a:graphicData uri="http://schemas.openxmlformats.org/drawingml/2006/table">
            <a:tbl>
              <a:tblPr>
                <a:tableStyleId>{3C2FFA5D-87B4-456A-9821-1D502468CF0F}</a:tableStyleId>
              </a:tblPr>
              <a:tblGrid>
                <a:gridCol w="1454909">
                  <a:extLst>
                    <a:ext uri="{9D8B030D-6E8A-4147-A177-3AD203B41FA5}">
                      <a16:colId xmlns:a16="http://schemas.microsoft.com/office/drawing/2014/main" val="932147605"/>
                    </a:ext>
                  </a:extLst>
                </a:gridCol>
                <a:gridCol w="1819093">
                  <a:extLst>
                    <a:ext uri="{9D8B030D-6E8A-4147-A177-3AD203B41FA5}">
                      <a16:colId xmlns:a16="http://schemas.microsoft.com/office/drawing/2014/main" val="3446259661"/>
                    </a:ext>
                  </a:extLst>
                </a:gridCol>
                <a:gridCol w="2101561">
                  <a:extLst>
                    <a:ext uri="{9D8B030D-6E8A-4147-A177-3AD203B41FA5}">
                      <a16:colId xmlns:a16="http://schemas.microsoft.com/office/drawing/2014/main" val="1716606863"/>
                    </a:ext>
                  </a:extLst>
                </a:gridCol>
              </a:tblGrid>
              <a:tr h="306478">
                <a:tc>
                  <a:txBody>
                    <a:bodyPr/>
                    <a:lstStyle/>
                    <a:p>
                      <a:r>
                        <a:rPr lang="en-IN" sz="1600" dirty="0"/>
                        <a:t>LAYER</a:t>
                      </a:r>
                    </a:p>
                  </a:txBody>
                  <a:tcPr marL="31941" marR="31941" marT="15971" marB="15971" anchor="ctr"/>
                </a:tc>
                <a:tc>
                  <a:txBody>
                    <a:bodyPr/>
                    <a:lstStyle/>
                    <a:p>
                      <a:r>
                        <a:rPr lang="en-IN" sz="1600" dirty="0"/>
                        <a:t>TECHNOLOGY</a:t>
                      </a:r>
                    </a:p>
                  </a:txBody>
                  <a:tcPr marL="31941" marR="31941" marT="15971" marB="15971" anchor="ctr"/>
                </a:tc>
                <a:tc>
                  <a:txBody>
                    <a:bodyPr/>
                    <a:lstStyle/>
                    <a:p>
                      <a:r>
                        <a:rPr lang="en-IN" sz="1600" dirty="0"/>
                        <a:t>PURPOSE</a:t>
                      </a:r>
                    </a:p>
                  </a:txBody>
                  <a:tcPr marL="31941" marR="31941" marT="15971" marB="15971" anchor="ctr"/>
                </a:tc>
                <a:extLst>
                  <a:ext uri="{0D108BD9-81ED-4DB2-BD59-A6C34878D82A}">
                    <a16:rowId xmlns:a16="http://schemas.microsoft.com/office/drawing/2014/main" val="3527814726"/>
                  </a:ext>
                </a:extLst>
              </a:tr>
              <a:tr h="533292">
                <a:tc>
                  <a:txBody>
                    <a:bodyPr/>
                    <a:lstStyle/>
                    <a:p>
                      <a:r>
                        <a:rPr lang="en-IN" sz="1600" b="1" dirty="0"/>
                        <a:t>Programming</a:t>
                      </a:r>
                      <a:endParaRPr lang="en-IN" sz="1600" dirty="0"/>
                    </a:p>
                  </a:txBody>
                  <a:tcPr marL="31941" marR="31941" marT="15971" marB="15971" anchor="ctr"/>
                </a:tc>
                <a:tc>
                  <a:txBody>
                    <a:bodyPr/>
                    <a:lstStyle/>
                    <a:p>
                      <a:r>
                        <a:rPr lang="en-IN" sz="1600" dirty="0"/>
                        <a:t>Python</a:t>
                      </a:r>
                    </a:p>
                  </a:txBody>
                  <a:tcPr marL="31941" marR="31941" marT="15971" marB="15971" anchor="ctr"/>
                </a:tc>
                <a:tc>
                  <a:txBody>
                    <a:bodyPr/>
                    <a:lstStyle/>
                    <a:p>
                      <a:r>
                        <a:rPr lang="en-IN" sz="1600" dirty="0"/>
                        <a:t>Core development</a:t>
                      </a:r>
                    </a:p>
                  </a:txBody>
                  <a:tcPr marL="31941" marR="31941" marT="15971" marB="15971" anchor="ctr"/>
                </a:tc>
                <a:extLst>
                  <a:ext uri="{0D108BD9-81ED-4DB2-BD59-A6C34878D82A}">
                    <a16:rowId xmlns:a16="http://schemas.microsoft.com/office/drawing/2014/main" val="4221173890"/>
                  </a:ext>
                </a:extLst>
              </a:tr>
              <a:tr h="536339">
                <a:tc>
                  <a:txBody>
                    <a:bodyPr/>
                    <a:lstStyle/>
                    <a:p>
                      <a:r>
                        <a:rPr lang="en-IN" sz="1600" b="1" dirty="0"/>
                        <a:t>Imbalanced Learning</a:t>
                      </a:r>
                      <a:endParaRPr lang="en-IN" sz="1600" dirty="0"/>
                    </a:p>
                  </a:txBody>
                  <a:tcPr marL="31941" marR="31941" marT="15971" marB="15971" anchor="ctr"/>
                </a:tc>
                <a:tc>
                  <a:txBody>
                    <a:bodyPr/>
                    <a:lstStyle/>
                    <a:p>
                      <a:r>
                        <a:rPr lang="en-IN" sz="1600" dirty="0"/>
                        <a:t>SMOTE / class weights</a:t>
                      </a:r>
                    </a:p>
                  </a:txBody>
                  <a:tcPr marL="31941" marR="31941" marT="15971" marB="15971" anchor="ctr"/>
                </a:tc>
                <a:tc>
                  <a:txBody>
                    <a:bodyPr/>
                    <a:lstStyle/>
                    <a:p>
                      <a:r>
                        <a:rPr lang="en-US" sz="1600" dirty="0"/>
                        <a:t>Handle highly imbalanced fraud data</a:t>
                      </a:r>
                    </a:p>
                  </a:txBody>
                  <a:tcPr marL="31941" marR="31941" marT="15971" marB="15971" anchor="ctr"/>
                </a:tc>
                <a:extLst>
                  <a:ext uri="{0D108BD9-81ED-4DB2-BD59-A6C34878D82A}">
                    <a16:rowId xmlns:a16="http://schemas.microsoft.com/office/drawing/2014/main" val="1329483203"/>
                  </a:ext>
                </a:extLst>
              </a:tr>
              <a:tr h="536339">
                <a:tc>
                  <a:txBody>
                    <a:bodyPr/>
                    <a:lstStyle/>
                    <a:p>
                      <a:r>
                        <a:rPr lang="en-IN" sz="1600" b="1" dirty="0"/>
                        <a:t>Agent Framework</a:t>
                      </a:r>
                      <a:endParaRPr lang="en-IN" sz="1600" dirty="0"/>
                    </a:p>
                  </a:txBody>
                  <a:tcPr marL="31941" marR="31941" marT="15971" marB="15971" anchor="ctr"/>
                </a:tc>
                <a:tc>
                  <a:txBody>
                    <a:bodyPr/>
                    <a:lstStyle/>
                    <a:p>
                      <a:r>
                        <a:rPr lang="en-IN" sz="1600" dirty="0"/>
                        <a:t>LangGraph</a:t>
                      </a:r>
                    </a:p>
                  </a:txBody>
                  <a:tcPr marL="31941" marR="31941" marT="15971" marB="15971" anchor="ctr"/>
                </a:tc>
                <a:tc>
                  <a:txBody>
                    <a:bodyPr/>
                    <a:lstStyle/>
                    <a:p>
                      <a:r>
                        <a:rPr lang="en-US" sz="1600" dirty="0"/>
                        <a:t>Build and orchestrate multiple AI agents</a:t>
                      </a:r>
                    </a:p>
                  </a:txBody>
                  <a:tcPr marL="31941" marR="31941" marT="15971" marB="15971" anchor="ctr"/>
                </a:tc>
                <a:extLst>
                  <a:ext uri="{0D108BD9-81ED-4DB2-BD59-A6C34878D82A}">
                    <a16:rowId xmlns:a16="http://schemas.microsoft.com/office/drawing/2014/main" val="1020270650"/>
                  </a:ext>
                </a:extLst>
              </a:tr>
              <a:tr h="783546">
                <a:tc>
                  <a:txBody>
                    <a:bodyPr/>
                    <a:lstStyle/>
                    <a:p>
                      <a:r>
                        <a:rPr lang="en-IN" sz="1600" b="1" dirty="0"/>
                        <a:t>LLM</a:t>
                      </a:r>
                      <a:endParaRPr lang="en-IN" sz="1600" dirty="0"/>
                    </a:p>
                  </a:txBody>
                  <a:tcPr marL="31941" marR="31941" marT="15971" marB="15971" anchor="ctr"/>
                </a:tc>
                <a:tc>
                  <a:txBody>
                    <a:bodyPr/>
                    <a:lstStyle/>
                    <a:p>
                      <a:r>
                        <a:rPr lang="es-ES" sz="1600" dirty="0"/>
                        <a:t>GPT / Llama / other suitable LLM</a:t>
                      </a:r>
                    </a:p>
                  </a:txBody>
                  <a:tcPr marL="31941" marR="31941" marT="15971" marB="15971" anchor="ctr"/>
                </a:tc>
                <a:tc>
                  <a:txBody>
                    <a:bodyPr/>
                    <a:lstStyle/>
                    <a:p>
                      <a:r>
                        <a:rPr lang="en-US" sz="1600" dirty="0"/>
                        <a:t>Reasoning, investigation and report generation</a:t>
                      </a:r>
                    </a:p>
                  </a:txBody>
                  <a:tcPr marL="31941" marR="31941" marT="15971" marB="15971" anchor="ctr"/>
                </a:tc>
                <a:extLst>
                  <a:ext uri="{0D108BD9-81ED-4DB2-BD59-A6C34878D82A}">
                    <a16:rowId xmlns:a16="http://schemas.microsoft.com/office/drawing/2014/main" val="2845462184"/>
                  </a:ext>
                </a:extLst>
              </a:tr>
              <a:tr h="536339">
                <a:tc>
                  <a:txBody>
                    <a:bodyPr/>
                    <a:lstStyle/>
                    <a:p>
                      <a:r>
                        <a:rPr lang="en-IN" sz="1600" b="1" dirty="0"/>
                        <a:t>RAG</a:t>
                      </a:r>
                      <a:endParaRPr lang="en-IN" sz="1600" dirty="0"/>
                    </a:p>
                  </a:txBody>
                  <a:tcPr marL="31941" marR="31941" marT="15971" marB="15971" anchor="ctr"/>
                </a:tc>
                <a:tc>
                  <a:txBody>
                    <a:bodyPr/>
                    <a:lstStyle/>
                    <a:p>
                      <a:r>
                        <a:rPr lang="en-IN" sz="1600" dirty="0"/>
                        <a:t>LangChain / LlamaIndex</a:t>
                      </a:r>
                    </a:p>
                  </a:txBody>
                  <a:tcPr marL="31941" marR="31941" marT="15971" marB="15971" anchor="ctr"/>
                </a:tc>
                <a:tc>
                  <a:txBody>
                    <a:bodyPr/>
                    <a:lstStyle/>
                    <a:p>
                      <a:r>
                        <a:rPr lang="en-IN" sz="1600" dirty="0"/>
                        <a:t>Retrieve relevant fraud knowledge</a:t>
                      </a:r>
                    </a:p>
                  </a:txBody>
                  <a:tcPr marL="31941" marR="31941" marT="15971" marB="15971" anchor="ctr"/>
                </a:tc>
                <a:extLst>
                  <a:ext uri="{0D108BD9-81ED-4DB2-BD59-A6C34878D82A}">
                    <a16:rowId xmlns:a16="http://schemas.microsoft.com/office/drawing/2014/main" val="3945509071"/>
                  </a:ext>
                </a:extLst>
              </a:tr>
              <a:tr h="783546">
                <a:tc>
                  <a:txBody>
                    <a:bodyPr/>
                    <a:lstStyle/>
                    <a:p>
                      <a:r>
                        <a:rPr lang="en-IN" sz="1600" b="1" dirty="0"/>
                        <a:t>Embeddings</a:t>
                      </a:r>
                      <a:endParaRPr lang="en-IN" sz="1600" dirty="0"/>
                    </a:p>
                  </a:txBody>
                  <a:tcPr marL="31941" marR="31941" marT="15971" marB="15971" anchor="ctr"/>
                </a:tc>
                <a:tc>
                  <a:txBody>
                    <a:bodyPr/>
                    <a:lstStyle/>
                    <a:p>
                      <a:r>
                        <a:rPr lang="en-IN" sz="1600"/>
                        <a:t>Sentence Transformers</a:t>
                      </a:r>
                      <a:endParaRPr lang="en-IN" sz="1600" dirty="0"/>
                    </a:p>
                  </a:txBody>
                  <a:tcPr marL="31941" marR="31941" marT="15971" marB="15971" anchor="ctr"/>
                </a:tc>
                <a:tc>
                  <a:txBody>
                    <a:bodyPr/>
                    <a:lstStyle/>
                    <a:p>
                      <a:r>
                        <a:rPr lang="en-IN" sz="1600" dirty="0"/>
                        <a:t>Convert fraud documents into vectors</a:t>
                      </a:r>
                    </a:p>
                  </a:txBody>
                  <a:tcPr marL="31941" marR="31941" marT="15971" marB="15971" anchor="ctr"/>
                </a:tc>
                <a:extLst>
                  <a:ext uri="{0D108BD9-81ED-4DB2-BD59-A6C34878D82A}">
                    <a16:rowId xmlns:a16="http://schemas.microsoft.com/office/drawing/2014/main" val="575613584"/>
                  </a:ext>
                </a:extLst>
              </a:tr>
              <a:tr h="783546">
                <a:tc>
                  <a:txBody>
                    <a:bodyPr/>
                    <a:lstStyle/>
                    <a:p>
                      <a:r>
                        <a:rPr lang="en-IN" sz="1600" b="1" dirty="0"/>
                        <a:t>Database</a:t>
                      </a:r>
                      <a:endParaRPr lang="en-IN" sz="1600" dirty="0"/>
                    </a:p>
                  </a:txBody>
                  <a:tcPr marL="31941" marR="31941" marT="15971" marB="15971" anchor="ctr"/>
                </a:tc>
                <a:tc>
                  <a:txBody>
                    <a:bodyPr/>
                    <a:lstStyle/>
                    <a:p>
                      <a:r>
                        <a:rPr lang="en-IN" sz="1600" dirty="0"/>
                        <a:t>PostgreSQL</a:t>
                      </a:r>
                    </a:p>
                  </a:txBody>
                  <a:tcPr marL="31941" marR="31941" marT="15971" marB="15971" anchor="ctr"/>
                </a:tc>
                <a:tc>
                  <a:txBody>
                    <a:bodyPr/>
                    <a:lstStyle/>
                    <a:p>
                      <a:r>
                        <a:rPr lang="en-US" sz="1600" dirty="0"/>
                        <a:t>Store transactions, users and investigation results</a:t>
                      </a:r>
                    </a:p>
                  </a:txBody>
                  <a:tcPr marL="31941" marR="31941" marT="15971" marB="15971" anchor="ctr"/>
                </a:tc>
                <a:extLst>
                  <a:ext uri="{0D108BD9-81ED-4DB2-BD59-A6C34878D82A}">
                    <a16:rowId xmlns:a16="http://schemas.microsoft.com/office/drawing/2014/main" val="4170020507"/>
                  </a:ext>
                </a:extLst>
              </a:tr>
              <a:tr h="536339">
                <a:tc>
                  <a:txBody>
                    <a:bodyPr/>
                    <a:lstStyle/>
                    <a:p>
                      <a:r>
                        <a:rPr lang="en-IN" sz="1600" b="1" dirty="0"/>
                        <a:t>API / Backend</a:t>
                      </a:r>
                      <a:endParaRPr lang="en-IN" sz="1600" dirty="0"/>
                    </a:p>
                  </a:txBody>
                  <a:tcPr marL="31941" marR="31941" marT="15971" marB="15971" anchor="ctr"/>
                </a:tc>
                <a:tc>
                  <a:txBody>
                    <a:bodyPr/>
                    <a:lstStyle/>
                    <a:p>
                      <a:r>
                        <a:rPr lang="en-IN" sz="1600" dirty="0"/>
                        <a:t>FastAPI</a:t>
                      </a:r>
                    </a:p>
                  </a:txBody>
                  <a:tcPr marL="31941" marR="31941" marT="15971" marB="15971" anchor="ctr"/>
                </a:tc>
                <a:tc>
                  <a:txBody>
                    <a:bodyPr/>
                    <a:lstStyle/>
                    <a:p>
                      <a:r>
                        <a:rPr lang="en-US" sz="1600" dirty="0"/>
                        <a:t>Connect AI agents with the application</a:t>
                      </a:r>
                    </a:p>
                  </a:txBody>
                  <a:tcPr marL="31941" marR="31941" marT="15971" marB="15971" anchor="ctr"/>
                </a:tc>
                <a:extLst>
                  <a:ext uri="{0D108BD9-81ED-4DB2-BD59-A6C34878D82A}">
                    <a16:rowId xmlns:a16="http://schemas.microsoft.com/office/drawing/2014/main" val="840023578"/>
                  </a:ext>
                </a:extLst>
              </a:tr>
              <a:tr h="533292">
                <a:tc>
                  <a:txBody>
                    <a:bodyPr/>
                    <a:lstStyle/>
                    <a:p>
                      <a:r>
                        <a:rPr lang="en-IN" sz="1600" b="1" dirty="0"/>
                        <a:t>Deployment</a:t>
                      </a:r>
                      <a:endParaRPr lang="en-IN" sz="1600" dirty="0"/>
                    </a:p>
                  </a:txBody>
                  <a:tcPr marL="31941" marR="31941" marT="15971" marB="15971" anchor="ctr"/>
                </a:tc>
                <a:tc>
                  <a:txBody>
                    <a:bodyPr/>
                    <a:lstStyle/>
                    <a:p>
                      <a:r>
                        <a:rPr lang="en-IN" sz="1600" dirty="0"/>
                        <a:t>Docker</a:t>
                      </a:r>
                    </a:p>
                  </a:txBody>
                  <a:tcPr marL="31941" marR="31941" marT="15971" marB="15971" anchor="ctr"/>
                </a:tc>
                <a:tc>
                  <a:txBody>
                    <a:bodyPr/>
                    <a:lstStyle/>
                    <a:p>
                      <a:r>
                        <a:rPr lang="en-US" sz="1600" dirty="0"/>
                        <a:t>Package and deploy the system</a:t>
                      </a:r>
                    </a:p>
                  </a:txBody>
                  <a:tcPr marL="31941" marR="31941" marT="15971" marB="15971" anchor="ctr"/>
                </a:tc>
                <a:extLst>
                  <a:ext uri="{0D108BD9-81ED-4DB2-BD59-A6C34878D82A}">
                    <a16:rowId xmlns:a16="http://schemas.microsoft.com/office/drawing/2014/main" val="3328279295"/>
                  </a:ext>
                </a:extLst>
              </a:tr>
            </a:tbl>
          </a:graphicData>
        </a:graphic>
      </p:graphicFrame>
      <p:sp>
        <p:nvSpPr>
          <p:cNvPr id="5" name="TextBox 4">
            <a:extLst>
              <a:ext uri="{FF2B5EF4-FFF2-40B4-BE49-F238E27FC236}">
                <a16:creationId xmlns:a16="http://schemas.microsoft.com/office/drawing/2014/main" id="{207074B8-74D0-4B8A-9649-2B1DD23A66DA}"/>
              </a:ext>
            </a:extLst>
          </p:cNvPr>
          <p:cNvSpPr txBox="1"/>
          <p:nvPr/>
        </p:nvSpPr>
        <p:spPr>
          <a:xfrm>
            <a:off x="5597032" y="362180"/>
            <a:ext cx="5884513" cy="1754326"/>
          </a:xfrm>
          <a:prstGeom prst="rect">
            <a:avLst/>
          </a:prstGeom>
          <a:noFill/>
        </p:spPr>
        <p:txBody>
          <a:bodyPr wrap="square">
            <a:spAutoFit/>
          </a:bodyPr>
          <a:lstStyle/>
          <a:p>
            <a:r>
              <a:rPr lang="en-IN" dirty="0"/>
              <a:t>1.Detect fraudulent transactions in real time</a:t>
            </a:r>
          </a:p>
          <a:p>
            <a:r>
              <a:rPr lang="en-US" dirty="0"/>
              <a:t>2. Handle highly imbalanced financial data</a:t>
            </a:r>
            <a:endParaRPr lang="en-IN" dirty="0"/>
          </a:p>
          <a:p>
            <a:r>
              <a:rPr lang="en-IN" dirty="0"/>
              <a:t>3. Analyse customer behaviour</a:t>
            </a:r>
          </a:p>
          <a:p>
            <a:r>
              <a:rPr lang="en-US" dirty="0"/>
              <a:t>4. Automatically investigate suspicious transactions</a:t>
            </a:r>
            <a:endParaRPr lang="en-IN" dirty="0"/>
          </a:p>
          <a:p>
            <a:r>
              <a:rPr lang="en-US" dirty="0"/>
              <a:t>5. Use RAG to retrieve relevant fraud knowledge</a:t>
            </a:r>
            <a:endParaRPr lang="en-IN" dirty="0"/>
          </a:p>
          <a:p>
            <a:r>
              <a:rPr lang="en-IN" dirty="0"/>
              <a:t>6. Perform intelligent risk assessment</a:t>
            </a:r>
          </a:p>
        </p:txBody>
      </p:sp>
      <p:sp>
        <p:nvSpPr>
          <p:cNvPr id="7" name="TextBox 6">
            <a:extLst>
              <a:ext uri="{FF2B5EF4-FFF2-40B4-BE49-F238E27FC236}">
                <a16:creationId xmlns:a16="http://schemas.microsoft.com/office/drawing/2014/main" id="{F72F3AC3-D514-4576-84B1-C45D5DE3F27E}"/>
              </a:ext>
            </a:extLst>
          </p:cNvPr>
          <p:cNvSpPr txBox="1"/>
          <p:nvPr/>
        </p:nvSpPr>
        <p:spPr>
          <a:xfrm>
            <a:off x="5514108" y="2244436"/>
            <a:ext cx="5422832" cy="677108"/>
          </a:xfrm>
          <a:prstGeom prst="rect">
            <a:avLst/>
          </a:prstGeom>
          <a:noFill/>
        </p:spPr>
        <p:txBody>
          <a:bodyPr wrap="square">
            <a:spAutoFit/>
          </a:bodyPr>
          <a:lstStyle/>
          <a:p>
            <a:pPr marL="342900" indent="-342900">
              <a:buFont typeface="Wingdings" panose="05000000000000000000" pitchFamily="2" charset="2"/>
              <a:buChar char="q"/>
            </a:pPr>
            <a:r>
              <a:rPr lang="en-IN" sz="2000" u="sng" dirty="0">
                <a:latin typeface="Bahnschrift SemiBold SemiConden" panose="020B0502040204020203" pitchFamily="34" charset="0"/>
              </a:rPr>
              <a:t>Dataset: </a:t>
            </a:r>
          </a:p>
          <a:p>
            <a:r>
              <a:rPr lang="en-IN" dirty="0"/>
              <a:t>https://www.kaggle.com/datasets/mlg-ulb/creditcardfraud</a:t>
            </a:r>
          </a:p>
        </p:txBody>
      </p:sp>
      <p:sp>
        <p:nvSpPr>
          <p:cNvPr id="9" name="TextBox 8">
            <a:extLst>
              <a:ext uri="{FF2B5EF4-FFF2-40B4-BE49-F238E27FC236}">
                <a16:creationId xmlns:a16="http://schemas.microsoft.com/office/drawing/2014/main" id="{8D89C2DB-1461-4D6C-B3C2-50E48AC6211C}"/>
              </a:ext>
            </a:extLst>
          </p:cNvPr>
          <p:cNvSpPr txBox="1"/>
          <p:nvPr/>
        </p:nvSpPr>
        <p:spPr>
          <a:xfrm>
            <a:off x="5514108" y="3140078"/>
            <a:ext cx="5884513" cy="2321172"/>
          </a:xfrm>
          <a:prstGeom prst="rect">
            <a:avLst/>
          </a:prstGeom>
          <a:noFill/>
        </p:spPr>
        <p:txBody>
          <a:bodyPr wrap="square">
            <a:spAutoFit/>
          </a:bodyPr>
          <a:lstStyle/>
          <a:p>
            <a:pPr marL="342900" indent="-342900">
              <a:buFont typeface="Wingdings" panose="05000000000000000000" pitchFamily="2" charset="2"/>
              <a:buChar char="q"/>
            </a:pPr>
            <a:r>
              <a:rPr lang="en-IN" sz="2000" b="1" u="sng" dirty="0">
                <a:latin typeface="Bahnschrift SemiBold SemiConden" panose="020B0502040204020203" pitchFamily="34" charset="0"/>
              </a:rPr>
              <a:t>Outcome: </a:t>
            </a:r>
          </a:p>
          <a:p>
            <a:pPr algn="just"/>
            <a:r>
              <a:rPr lang="en-IN" dirty="0"/>
              <a:t>It is a real-time, explainable, multi-agent fraud investigation system capable of detecting suspicious transactions, analysing behavioural anomalies, retrieving supporting evidence through RAG, assessing risk, generating human-understandable explanations, and providing actionable recommendations through an interactive dashboard and automated investigation report.</a:t>
            </a:r>
          </a:p>
        </p:txBody>
      </p:sp>
    </p:spTree>
    <p:extLst>
      <p:ext uri="{BB962C8B-B14F-4D97-AF65-F5344CB8AC3E}">
        <p14:creationId xmlns:p14="http://schemas.microsoft.com/office/powerpoint/2010/main" val="1539276229"/>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Gallery</Template>
  <TotalTime>121</TotalTime>
  <Words>703</Words>
  <Application>Microsoft Office PowerPoint</Application>
  <PresentationFormat>Widescreen</PresentationFormat>
  <Paragraphs>104</Paragraphs>
  <Slides>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vt:i4>
      </vt:variant>
    </vt:vector>
  </HeadingPairs>
  <TitlesOfParts>
    <vt:vector size="12" baseType="lpstr">
      <vt:lpstr>Agency FB</vt:lpstr>
      <vt:lpstr>Arial</vt:lpstr>
      <vt:lpstr>Arial Narrow</vt:lpstr>
      <vt:lpstr>Bahnschrift SemiBold SemiConden</vt:lpstr>
      <vt:lpstr>Gill Sans MT</vt:lpstr>
      <vt:lpstr>Wingdings</vt:lpstr>
      <vt:lpstr>Gallery</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INDUJA K</dc:creator>
  <cp:lastModifiedBy>Induja K</cp:lastModifiedBy>
  <cp:revision>4</cp:revision>
  <dcterms:created xsi:type="dcterms:W3CDTF">2026-08-27T18:03:36Z</dcterms:created>
  <dcterms:modified xsi:type="dcterms:W3CDTF">2026-08-28T05:03:02Z</dcterms:modified>
</cp:coreProperties>
</file>