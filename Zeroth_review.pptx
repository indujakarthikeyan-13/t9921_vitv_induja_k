
<file path=[Content_Types].xml><?xml version="1.0" encoding="utf-8"?>
<Types xmlns="http://schemas.openxmlformats.org/package/2006/content-types">
  <Default Extension="jpeg" ContentType="image/jpeg"/>
  <Default Extension="jp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8" r:id="rId2"/>
    <p:sldId id="259" r:id="rId3"/>
    <p:sldId id="260" r:id="rId4"/>
    <p:sldId id="261" r:id="rId5"/>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014" autoAdjust="0"/>
    <p:restoredTop sz="94660"/>
  </p:normalViewPr>
  <p:slideViewPr>
    <p:cSldViewPr snapToGrid="0">
      <p:cViewPr varScale="1">
        <p:scale>
          <a:sx n="85" d="100"/>
          <a:sy n="85" d="100"/>
        </p:scale>
        <p:origin x="590"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presProps" Target="presProps.xml"/><Relationship Id="rId5" Type="http://schemas.openxmlformats.org/officeDocument/2006/relationships/slide" Target="slides/slide4.xml"/><Relationship Id="rId4" Type="http://schemas.openxmlformats.org/officeDocument/2006/relationships/slide" Target="slides/slide3.xml"/><Relationship Id="rId9"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417779" y="802298"/>
            <a:ext cx="8637073" cy="2541431"/>
          </a:xfrm>
        </p:spPr>
        <p:txBody>
          <a:bodyPr bIns="0" anchor="b">
            <a:normAutofit/>
          </a:bodyPr>
          <a:lstStyle>
            <a:lvl1pPr algn="l">
              <a:defRPr sz="6600"/>
            </a:lvl1pPr>
          </a:lstStyle>
          <a:p>
            <a:r>
              <a:rPr lang="en-US"/>
              <a:t>Click to edit Master title style</a:t>
            </a:r>
            <a:endParaRPr lang="en-US" dirty="0"/>
          </a:p>
        </p:txBody>
      </p:sp>
      <p:sp>
        <p:nvSpPr>
          <p:cNvPr id="3" name="Subtitle 2"/>
          <p:cNvSpPr>
            <a:spLocks noGrp="1"/>
          </p:cNvSpPr>
          <p:nvPr>
            <p:ph type="subTitle" idx="1"/>
          </p:nvPr>
        </p:nvSpPr>
        <p:spPr>
          <a:xfrm>
            <a:off x="2417780" y="3531204"/>
            <a:ext cx="8637072" cy="977621"/>
          </a:xfrm>
        </p:spPr>
        <p:txBody>
          <a:bodyPr tIns="91440" bIns="91440">
            <a:normAutofit/>
          </a:bodyPr>
          <a:lstStyle>
            <a:lvl1pPr marL="0" indent="0" algn="l">
              <a:buNone/>
              <a:defRPr sz="1800" b="0" cap="all" baseline="0">
                <a:solidFill>
                  <a:schemeClr val="tx1"/>
                </a:solidFill>
              </a:defRPr>
            </a:lvl1pPr>
            <a:lvl2pPr marL="457200" indent="0" algn="ctr">
              <a:buNone/>
              <a:defRPr sz="18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516AE82C-64B8-46AB-BE8D-F92FBCF277AD}" type="datetimeFigureOut">
              <a:rPr lang="en-IN" smtClean="0"/>
              <a:t>27-08-2026</a:t>
            </a:fld>
            <a:endParaRPr lang="en-IN" dirty="0"/>
          </a:p>
        </p:txBody>
      </p:sp>
      <p:sp>
        <p:nvSpPr>
          <p:cNvPr id="5" name="Footer Placeholder 4"/>
          <p:cNvSpPr>
            <a:spLocks noGrp="1"/>
          </p:cNvSpPr>
          <p:nvPr>
            <p:ph type="ftr" sz="quarter" idx="11"/>
          </p:nvPr>
        </p:nvSpPr>
        <p:spPr>
          <a:xfrm>
            <a:off x="2416500" y="329307"/>
            <a:ext cx="4973915" cy="309201"/>
          </a:xfrm>
        </p:spPr>
        <p:txBody>
          <a:bodyPr/>
          <a:lstStyle/>
          <a:p>
            <a:endParaRPr lang="en-IN" dirty="0"/>
          </a:p>
        </p:txBody>
      </p:sp>
      <p:sp>
        <p:nvSpPr>
          <p:cNvPr id="6" name="Slide Number Placeholder 5"/>
          <p:cNvSpPr>
            <a:spLocks noGrp="1"/>
          </p:cNvSpPr>
          <p:nvPr>
            <p:ph type="sldNum" sz="quarter" idx="12"/>
          </p:nvPr>
        </p:nvSpPr>
        <p:spPr>
          <a:xfrm>
            <a:off x="1437664" y="798973"/>
            <a:ext cx="811019" cy="503578"/>
          </a:xfrm>
        </p:spPr>
        <p:txBody>
          <a:bodyPr/>
          <a:lstStyle/>
          <a:p>
            <a:fld id="{F709E287-E1D5-4123-93FB-AE604AABEFE1}" type="slidenum">
              <a:rPr lang="en-IN" smtClean="0"/>
              <a:t>‹#›</a:t>
            </a:fld>
            <a:endParaRPr lang="en-IN" dirty="0"/>
          </a:p>
        </p:txBody>
      </p:sp>
      <p:cxnSp>
        <p:nvCxnSpPr>
          <p:cNvPr id="15" name="Straight Connector 14"/>
          <p:cNvCxnSpPr/>
          <p:nvPr/>
        </p:nvCxnSpPr>
        <p:spPr>
          <a:xfrm>
            <a:off x="2417780" y="3528542"/>
            <a:ext cx="863707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314495203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16AE82C-64B8-46AB-BE8D-F92FBCF277AD}" type="datetimeFigureOut">
              <a:rPr lang="en-IN" smtClean="0"/>
              <a:t>27-08-2026</a:t>
            </a:fld>
            <a:endParaRPr lang="en-IN" dirty="0"/>
          </a:p>
        </p:txBody>
      </p:sp>
      <p:sp>
        <p:nvSpPr>
          <p:cNvPr id="5" name="Footer Placeholder 4"/>
          <p:cNvSpPr>
            <a:spLocks noGrp="1"/>
          </p:cNvSpPr>
          <p:nvPr>
            <p:ph type="ftr" sz="quarter" idx="11"/>
          </p:nvPr>
        </p:nvSpPr>
        <p:spPr/>
        <p:txBody>
          <a:bodyPr/>
          <a:lstStyle/>
          <a:p>
            <a:endParaRPr lang="en-IN" dirty="0"/>
          </a:p>
        </p:txBody>
      </p:sp>
      <p:sp>
        <p:nvSpPr>
          <p:cNvPr id="6" name="Slide Number Placeholder 5"/>
          <p:cNvSpPr>
            <a:spLocks noGrp="1"/>
          </p:cNvSpPr>
          <p:nvPr>
            <p:ph type="sldNum" sz="quarter" idx="12"/>
          </p:nvPr>
        </p:nvSpPr>
        <p:spPr/>
        <p:txBody>
          <a:bodyPr/>
          <a:lstStyle/>
          <a:p>
            <a:fld id="{F709E287-E1D5-4123-93FB-AE604AABEFE1}" type="slidenum">
              <a:rPr lang="en-IN" smtClean="0"/>
              <a:t>‹#›</a:t>
            </a:fld>
            <a:endParaRPr lang="en-IN" dirty="0"/>
          </a:p>
        </p:txBody>
      </p:sp>
      <p:cxnSp>
        <p:nvCxnSpPr>
          <p:cNvPr id="33" name="Straight Connector 32"/>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127147708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454239" y="1756130"/>
            <a:ext cx="8643154" cy="1887950"/>
          </a:xfrm>
        </p:spPr>
        <p:txBody>
          <a:bodyPr anchor="b">
            <a:normAutofit/>
          </a:bodyPr>
          <a:lstStyle>
            <a:lvl1pPr algn="l">
              <a:defRPr sz="3600"/>
            </a:lvl1pPr>
          </a:lstStyle>
          <a:p>
            <a:r>
              <a:rPr lang="en-US"/>
              <a:t>Click to edit Master title style</a:t>
            </a:r>
            <a:endParaRPr lang="en-US" dirty="0"/>
          </a:p>
        </p:txBody>
      </p:sp>
      <p:sp>
        <p:nvSpPr>
          <p:cNvPr id="3" name="Text Placeholder 2"/>
          <p:cNvSpPr>
            <a:spLocks noGrp="1"/>
          </p:cNvSpPr>
          <p:nvPr>
            <p:ph type="body" idx="1"/>
          </p:nvPr>
        </p:nvSpPr>
        <p:spPr>
          <a:xfrm>
            <a:off x="1454239" y="3806195"/>
            <a:ext cx="8630446" cy="1012929"/>
          </a:xfrm>
        </p:spPr>
        <p:txBody>
          <a:bodyPr tIns="91440">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16AE82C-64B8-46AB-BE8D-F92FBCF277AD}" type="datetimeFigureOut">
              <a:rPr lang="en-IN" smtClean="0"/>
              <a:t>27-08-2026</a:t>
            </a:fld>
            <a:endParaRPr lang="en-IN" dirty="0"/>
          </a:p>
        </p:txBody>
      </p:sp>
      <p:sp>
        <p:nvSpPr>
          <p:cNvPr id="5" name="Footer Placeholder 4"/>
          <p:cNvSpPr>
            <a:spLocks noGrp="1"/>
          </p:cNvSpPr>
          <p:nvPr>
            <p:ph type="ftr" sz="quarter" idx="11"/>
          </p:nvPr>
        </p:nvSpPr>
        <p:spPr/>
        <p:txBody>
          <a:bodyPr/>
          <a:lstStyle/>
          <a:p>
            <a:endParaRPr lang="en-IN" dirty="0"/>
          </a:p>
        </p:txBody>
      </p:sp>
      <p:sp>
        <p:nvSpPr>
          <p:cNvPr id="6" name="Slide Number Placeholder 5"/>
          <p:cNvSpPr>
            <a:spLocks noGrp="1"/>
          </p:cNvSpPr>
          <p:nvPr>
            <p:ph type="sldNum" sz="quarter" idx="12"/>
          </p:nvPr>
        </p:nvSpPr>
        <p:spPr/>
        <p:txBody>
          <a:bodyPr/>
          <a:lstStyle/>
          <a:p>
            <a:fld id="{F709E287-E1D5-4123-93FB-AE604AABEFE1}" type="slidenum">
              <a:rPr lang="en-IN" smtClean="0"/>
              <a:t>‹#›</a:t>
            </a:fld>
            <a:endParaRPr lang="en-IN" dirty="0"/>
          </a:p>
        </p:txBody>
      </p:sp>
      <p:cxnSp>
        <p:nvCxnSpPr>
          <p:cNvPr id="15" name="Straight Connector 14"/>
          <p:cNvCxnSpPr/>
          <p:nvPr/>
        </p:nvCxnSpPr>
        <p:spPr>
          <a:xfrm>
            <a:off x="1454239" y="3804985"/>
            <a:ext cx="8630446"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304363668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449217" y="804889"/>
            <a:ext cx="9605635" cy="1059305"/>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447331" y="2010878"/>
            <a:ext cx="4645152" cy="344859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413771" y="2017343"/>
            <a:ext cx="4645152" cy="344152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516AE82C-64B8-46AB-BE8D-F92FBCF277AD}" type="datetimeFigureOut">
              <a:rPr lang="en-IN" smtClean="0"/>
              <a:t>27-08-2026</a:t>
            </a:fld>
            <a:endParaRPr lang="en-IN" dirty="0"/>
          </a:p>
        </p:txBody>
      </p:sp>
      <p:sp>
        <p:nvSpPr>
          <p:cNvPr id="6" name="Footer Placeholder 5"/>
          <p:cNvSpPr>
            <a:spLocks noGrp="1"/>
          </p:cNvSpPr>
          <p:nvPr>
            <p:ph type="ftr" sz="quarter" idx="11"/>
          </p:nvPr>
        </p:nvSpPr>
        <p:spPr/>
        <p:txBody>
          <a:bodyPr/>
          <a:lstStyle/>
          <a:p>
            <a:endParaRPr lang="en-IN" dirty="0"/>
          </a:p>
        </p:txBody>
      </p:sp>
      <p:sp>
        <p:nvSpPr>
          <p:cNvPr id="7" name="Slide Number Placeholder 6"/>
          <p:cNvSpPr>
            <a:spLocks noGrp="1"/>
          </p:cNvSpPr>
          <p:nvPr>
            <p:ph type="sldNum" sz="quarter" idx="12"/>
          </p:nvPr>
        </p:nvSpPr>
        <p:spPr/>
        <p:txBody>
          <a:bodyPr/>
          <a:lstStyle/>
          <a:p>
            <a:fld id="{F709E287-E1D5-4123-93FB-AE604AABEFE1}" type="slidenum">
              <a:rPr lang="en-IN" smtClean="0"/>
              <a:t>‹#›</a:t>
            </a:fld>
            <a:endParaRPr lang="en-IN" dirty="0"/>
          </a:p>
        </p:txBody>
      </p:sp>
      <p:cxnSp>
        <p:nvCxnSpPr>
          <p:cNvPr id="35" name="Straight Connector 34"/>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426005751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447191" y="804163"/>
            <a:ext cx="9607661" cy="1056319"/>
          </a:xfrm>
        </p:spPr>
        <p:txBody>
          <a:bodyPr/>
          <a:lstStyle/>
          <a:p>
            <a:r>
              <a:rPr lang="en-US"/>
              <a:t>Click to edit Master title style</a:t>
            </a:r>
            <a:endParaRPr lang="en-US" dirty="0"/>
          </a:p>
        </p:txBody>
      </p:sp>
      <p:sp>
        <p:nvSpPr>
          <p:cNvPr id="3" name="Text Placeholder 2"/>
          <p:cNvSpPr>
            <a:spLocks noGrp="1"/>
          </p:cNvSpPr>
          <p:nvPr>
            <p:ph type="body" idx="1"/>
          </p:nvPr>
        </p:nvSpPr>
        <p:spPr>
          <a:xfrm>
            <a:off x="1447191" y="2019549"/>
            <a:ext cx="4645152" cy="801943"/>
          </a:xfrm>
        </p:spPr>
        <p:txBody>
          <a:bodyPr anchor="b">
            <a:normAutofit/>
          </a:bodyPr>
          <a:lstStyle>
            <a:lvl1pPr marL="0" indent="0">
              <a:lnSpc>
                <a:spcPct val="100000"/>
              </a:lnSpc>
              <a:buNone/>
              <a:defRPr sz="2200" b="0" cap="all" baseline="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447191" y="2824269"/>
            <a:ext cx="4645152" cy="264445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412362" y="2023003"/>
            <a:ext cx="4645152" cy="802237"/>
          </a:xfrm>
        </p:spPr>
        <p:txBody>
          <a:bodyPr anchor="b">
            <a:normAutofit/>
          </a:bodyPr>
          <a:lstStyle>
            <a:lvl1pPr marL="0" indent="0">
              <a:lnSpc>
                <a:spcPct val="100000"/>
              </a:lnSpc>
              <a:buNone/>
              <a:defRPr sz="2200" b="0" cap="all" baseline="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412362" y="2821491"/>
            <a:ext cx="4645152" cy="263737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516AE82C-64B8-46AB-BE8D-F92FBCF277AD}" type="datetimeFigureOut">
              <a:rPr lang="en-IN" smtClean="0"/>
              <a:t>27-08-2026</a:t>
            </a:fld>
            <a:endParaRPr lang="en-IN" dirty="0"/>
          </a:p>
        </p:txBody>
      </p:sp>
      <p:sp>
        <p:nvSpPr>
          <p:cNvPr id="8" name="Footer Placeholder 7"/>
          <p:cNvSpPr>
            <a:spLocks noGrp="1"/>
          </p:cNvSpPr>
          <p:nvPr>
            <p:ph type="ftr" sz="quarter" idx="11"/>
          </p:nvPr>
        </p:nvSpPr>
        <p:spPr/>
        <p:txBody>
          <a:bodyPr/>
          <a:lstStyle/>
          <a:p>
            <a:endParaRPr lang="en-IN" dirty="0"/>
          </a:p>
        </p:txBody>
      </p:sp>
      <p:sp>
        <p:nvSpPr>
          <p:cNvPr id="9" name="Slide Number Placeholder 8"/>
          <p:cNvSpPr>
            <a:spLocks noGrp="1"/>
          </p:cNvSpPr>
          <p:nvPr>
            <p:ph type="sldNum" sz="quarter" idx="12"/>
          </p:nvPr>
        </p:nvSpPr>
        <p:spPr/>
        <p:txBody>
          <a:bodyPr/>
          <a:lstStyle/>
          <a:p>
            <a:fld id="{F709E287-E1D5-4123-93FB-AE604AABEFE1}" type="slidenum">
              <a:rPr lang="en-IN" smtClean="0"/>
              <a:t>‹#›</a:t>
            </a:fld>
            <a:endParaRPr lang="en-IN" dirty="0"/>
          </a:p>
        </p:txBody>
      </p:sp>
      <p:cxnSp>
        <p:nvCxnSpPr>
          <p:cNvPr id="29" name="Straight Connector 28"/>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370273087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516AE82C-64B8-46AB-BE8D-F92FBCF277AD}" type="datetimeFigureOut">
              <a:rPr lang="en-IN" smtClean="0"/>
              <a:t>27-08-2026</a:t>
            </a:fld>
            <a:endParaRPr lang="en-IN" dirty="0"/>
          </a:p>
        </p:txBody>
      </p:sp>
      <p:sp>
        <p:nvSpPr>
          <p:cNvPr id="4" name="Footer Placeholder 3"/>
          <p:cNvSpPr>
            <a:spLocks noGrp="1"/>
          </p:cNvSpPr>
          <p:nvPr>
            <p:ph type="ftr" sz="quarter" idx="11"/>
          </p:nvPr>
        </p:nvSpPr>
        <p:spPr/>
        <p:txBody>
          <a:bodyPr/>
          <a:lstStyle/>
          <a:p>
            <a:endParaRPr lang="en-IN" dirty="0"/>
          </a:p>
        </p:txBody>
      </p:sp>
      <p:sp>
        <p:nvSpPr>
          <p:cNvPr id="5" name="Slide Number Placeholder 4"/>
          <p:cNvSpPr>
            <a:spLocks noGrp="1"/>
          </p:cNvSpPr>
          <p:nvPr>
            <p:ph type="sldNum" sz="quarter" idx="12"/>
          </p:nvPr>
        </p:nvSpPr>
        <p:spPr/>
        <p:txBody>
          <a:bodyPr/>
          <a:lstStyle/>
          <a:p>
            <a:fld id="{F709E287-E1D5-4123-93FB-AE604AABEFE1}" type="slidenum">
              <a:rPr lang="en-IN" smtClean="0"/>
              <a:t>‹#›</a:t>
            </a:fld>
            <a:endParaRPr lang="en-IN" dirty="0"/>
          </a:p>
        </p:txBody>
      </p:sp>
      <p:cxnSp>
        <p:nvCxnSpPr>
          <p:cNvPr id="25" name="Straight Connector 24"/>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275573663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16AE82C-64B8-46AB-BE8D-F92FBCF277AD}" type="datetimeFigureOut">
              <a:rPr lang="en-IN" smtClean="0"/>
              <a:t>27-08-2026</a:t>
            </a:fld>
            <a:endParaRPr lang="en-IN" dirty="0"/>
          </a:p>
        </p:txBody>
      </p:sp>
      <p:sp>
        <p:nvSpPr>
          <p:cNvPr id="3" name="Footer Placeholder 2"/>
          <p:cNvSpPr>
            <a:spLocks noGrp="1"/>
          </p:cNvSpPr>
          <p:nvPr>
            <p:ph type="ftr" sz="quarter" idx="11"/>
          </p:nvPr>
        </p:nvSpPr>
        <p:spPr/>
        <p:txBody>
          <a:bodyPr/>
          <a:lstStyle/>
          <a:p>
            <a:endParaRPr lang="en-IN" dirty="0"/>
          </a:p>
        </p:txBody>
      </p:sp>
      <p:sp>
        <p:nvSpPr>
          <p:cNvPr id="4" name="Slide Number Placeholder 3"/>
          <p:cNvSpPr>
            <a:spLocks noGrp="1"/>
          </p:cNvSpPr>
          <p:nvPr>
            <p:ph type="sldNum" sz="quarter" idx="12"/>
          </p:nvPr>
        </p:nvSpPr>
        <p:spPr/>
        <p:txBody>
          <a:bodyPr/>
          <a:lstStyle/>
          <a:p>
            <a:fld id="{F709E287-E1D5-4123-93FB-AE604AABEFE1}" type="slidenum">
              <a:rPr lang="en-IN" smtClean="0"/>
              <a:t>‹#›</a:t>
            </a:fld>
            <a:endParaRPr lang="en-IN" dirty="0"/>
          </a:p>
        </p:txBody>
      </p:sp>
    </p:spTree>
    <p:extLst>
      <p:ext uri="{BB962C8B-B14F-4D97-AF65-F5344CB8AC3E}">
        <p14:creationId xmlns:p14="http://schemas.microsoft.com/office/powerpoint/2010/main" val="14761129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4671" y="798973"/>
            <a:ext cx="3273099" cy="2247117"/>
          </a:xfrm>
        </p:spPr>
        <p:txBody>
          <a:bodyPr anchor="b">
            <a:normAutofit/>
          </a:bodyPr>
          <a:lstStyle>
            <a:lvl1pPr algn="l">
              <a:defRPr sz="2400"/>
            </a:lvl1pPr>
          </a:lstStyle>
          <a:p>
            <a:r>
              <a:rPr lang="en-US"/>
              <a:t>Click to edit Master title style</a:t>
            </a:r>
            <a:endParaRPr lang="en-US" dirty="0"/>
          </a:p>
        </p:txBody>
      </p:sp>
      <p:sp>
        <p:nvSpPr>
          <p:cNvPr id="3" name="Content Placeholder 2"/>
          <p:cNvSpPr>
            <a:spLocks noGrp="1"/>
          </p:cNvSpPr>
          <p:nvPr>
            <p:ph idx="1"/>
          </p:nvPr>
        </p:nvSpPr>
        <p:spPr>
          <a:xfrm>
            <a:off x="5043714" y="798974"/>
            <a:ext cx="6012470" cy="4658826"/>
          </a:xfrm>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444671" y="3205491"/>
            <a:ext cx="3275013" cy="2248181"/>
          </a:xfrm>
        </p:spPr>
        <p:txBody>
          <a:bodyPr/>
          <a:lstStyle>
            <a:lvl1pPr marL="0" indent="0" algn="l">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516AE82C-64B8-46AB-BE8D-F92FBCF277AD}" type="datetimeFigureOut">
              <a:rPr lang="en-IN" smtClean="0"/>
              <a:t>27-08-2026</a:t>
            </a:fld>
            <a:endParaRPr lang="en-IN" dirty="0"/>
          </a:p>
        </p:txBody>
      </p:sp>
      <p:sp>
        <p:nvSpPr>
          <p:cNvPr id="6" name="Footer Placeholder 5"/>
          <p:cNvSpPr>
            <a:spLocks noGrp="1"/>
          </p:cNvSpPr>
          <p:nvPr>
            <p:ph type="ftr" sz="quarter" idx="11"/>
          </p:nvPr>
        </p:nvSpPr>
        <p:spPr/>
        <p:txBody>
          <a:bodyPr/>
          <a:lstStyle/>
          <a:p>
            <a:endParaRPr lang="en-IN" dirty="0"/>
          </a:p>
        </p:txBody>
      </p:sp>
      <p:sp>
        <p:nvSpPr>
          <p:cNvPr id="7" name="Slide Number Placeholder 6"/>
          <p:cNvSpPr>
            <a:spLocks noGrp="1"/>
          </p:cNvSpPr>
          <p:nvPr>
            <p:ph type="sldNum" sz="quarter" idx="12"/>
          </p:nvPr>
        </p:nvSpPr>
        <p:spPr/>
        <p:txBody>
          <a:bodyPr/>
          <a:lstStyle/>
          <a:p>
            <a:fld id="{F709E287-E1D5-4123-93FB-AE604AABEFE1}" type="slidenum">
              <a:rPr lang="en-IN" smtClean="0"/>
              <a:t>‹#›</a:t>
            </a:fld>
            <a:endParaRPr lang="en-IN" dirty="0"/>
          </a:p>
        </p:txBody>
      </p:sp>
      <p:cxnSp>
        <p:nvCxnSpPr>
          <p:cNvPr id="17" name="Straight Connector 16"/>
          <p:cNvCxnSpPr/>
          <p:nvPr/>
        </p:nvCxnSpPr>
        <p:spPr>
          <a:xfrm>
            <a:off x="1448280" y="3205491"/>
            <a:ext cx="3269490"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190147701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grpSp>
        <p:nvGrpSpPr>
          <p:cNvPr id="8" name="Group 7"/>
          <p:cNvGrpSpPr/>
          <p:nvPr/>
        </p:nvGrpSpPr>
        <p:grpSpPr>
          <a:xfrm>
            <a:off x="7477387" y="482170"/>
            <a:ext cx="4074533" cy="5149101"/>
            <a:chOff x="7477387" y="482170"/>
            <a:chExt cx="4074533" cy="5149101"/>
          </a:xfrm>
        </p:grpSpPr>
        <p:sp>
          <p:nvSpPr>
            <p:cNvPr id="18" name="Rectangle 17"/>
            <p:cNvSpPr/>
            <p:nvPr/>
          </p:nvSpPr>
          <p:spPr bwMode="black">
            <a:xfrm>
              <a:off x="7477387" y="482170"/>
              <a:ext cx="4074533" cy="5149101"/>
            </a:xfrm>
            <a:prstGeom prst="rect">
              <a:avLst/>
            </a:prstGeom>
            <a:gradFill>
              <a:gsLst>
                <a:gs pos="0">
                  <a:srgbClr val="000001"/>
                </a:gs>
                <a:gs pos="100000">
                  <a:srgbClr val="191919"/>
                </a:gs>
              </a:gsLst>
            </a:gradFill>
            <a:ln w="76200" cmpd="sng">
              <a:noFill/>
              <a:miter lim="800000"/>
            </a:ln>
            <a:effectLst>
              <a:outerShdw blurRad="127000" dist="228600" dir="4740000" sx="98000" sy="98000" algn="tl" rotWithShape="0">
                <a:srgbClr val="000000">
                  <a:alpha val="34000"/>
                </a:srgbClr>
              </a:outerShdw>
            </a:effectLst>
            <a:scene3d>
              <a:camera prst="orthographicFront"/>
              <a:lightRig rig="threePt" dir="t"/>
            </a:scene3d>
            <a:sp3d>
              <a:bevelT w="152400" h="50800" prst="softRound"/>
            </a:sp3d>
          </p:spPr>
          <p:style>
            <a:lnRef idx="1">
              <a:schemeClr val="accent1"/>
            </a:lnRef>
            <a:fillRef idx="3">
              <a:schemeClr val="accent1"/>
            </a:fillRef>
            <a:effectRef idx="2">
              <a:schemeClr val="accent1"/>
            </a:effectRef>
            <a:fontRef idx="minor">
              <a:schemeClr val="lt1"/>
            </a:fontRef>
          </p:style>
        </p:sp>
        <p:sp>
          <p:nvSpPr>
            <p:cNvPr id="19" name="Rectangle 18"/>
            <p:cNvSpPr/>
            <p:nvPr/>
          </p:nvSpPr>
          <p:spPr bwMode="blackWhite">
            <a:xfrm>
              <a:off x="7790446" y="812506"/>
              <a:ext cx="3450289" cy="4466452"/>
            </a:xfrm>
            <a:prstGeom prst="rect">
              <a:avLst/>
            </a:prstGeom>
            <a:gradFill>
              <a:gsLst>
                <a:gs pos="0">
                  <a:srgbClr val="DADADA"/>
                </a:gs>
                <a:gs pos="100000">
                  <a:srgbClr val="FFFFFE"/>
                </a:gs>
              </a:gsLst>
              <a:lin ang="16200000" scaled="0"/>
            </a:gradFill>
            <a:ln w="50800" cmpd="sng">
              <a:solidFill>
                <a:srgbClr val="191919"/>
              </a:solidFill>
              <a:miter lim="800000"/>
            </a:ln>
            <a:effectLst>
              <a:innerShdw blurRad="63500" dist="88900" dir="14100000">
                <a:srgbClr val="000000">
                  <a:alpha val="30000"/>
                </a:srgbClr>
              </a:innerShdw>
            </a:effectLst>
            <a:scene3d>
              <a:camera prst="orthographicFront"/>
              <a:lightRig rig="threePt" dir="t"/>
            </a:scene3d>
            <a:sp3d>
              <a:bevelT prst="relaxedInset"/>
            </a:sp3d>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title"/>
          </p:nvPr>
        </p:nvSpPr>
        <p:spPr>
          <a:xfrm>
            <a:off x="1451206" y="1129513"/>
            <a:ext cx="5532328" cy="1830584"/>
          </a:xfrm>
        </p:spPr>
        <p:txBody>
          <a:bodyPr anchor="b">
            <a:normAutofit/>
          </a:bodyPr>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8124389" y="1122542"/>
            <a:ext cx="2791171" cy="3866327"/>
          </a:xfrm>
          <a:solidFill>
            <a:schemeClr val="bg1">
              <a:lumMod val="85000"/>
            </a:schemeClr>
          </a:solidFill>
          <a:ln w="9525" cap="sq">
            <a:noFill/>
            <a:miter lim="800000"/>
          </a:ln>
          <a:effectLst/>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Click icon to add picture</a:t>
            </a:r>
          </a:p>
        </p:txBody>
      </p:sp>
      <p:sp>
        <p:nvSpPr>
          <p:cNvPr id="4" name="Text Placeholder 3"/>
          <p:cNvSpPr>
            <a:spLocks noGrp="1"/>
          </p:cNvSpPr>
          <p:nvPr>
            <p:ph type="body" sz="half" idx="2"/>
          </p:nvPr>
        </p:nvSpPr>
        <p:spPr>
          <a:xfrm>
            <a:off x="1450329" y="3145992"/>
            <a:ext cx="5524404" cy="2003742"/>
          </a:xfrm>
        </p:spPr>
        <p:txBody>
          <a:bodyPr>
            <a:normAutofit/>
          </a:bodyPr>
          <a:lstStyle>
            <a:lvl1pPr marL="0" indent="0" algn="l">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1447382" y="5469856"/>
            <a:ext cx="5527351" cy="320123"/>
          </a:xfrm>
        </p:spPr>
        <p:txBody>
          <a:bodyPr/>
          <a:lstStyle>
            <a:lvl1pPr algn="l">
              <a:defRPr/>
            </a:lvl1pPr>
          </a:lstStyle>
          <a:p>
            <a:fld id="{516AE82C-64B8-46AB-BE8D-F92FBCF277AD}" type="datetimeFigureOut">
              <a:rPr lang="en-IN" smtClean="0"/>
              <a:t>27-08-2026</a:t>
            </a:fld>
            <a:endParaRPr lang="en-IN" dirty="0"/>
          </a:p>
        </p:txBody>
      </p:sp>
      <p:sp>
        <p:nvSpPr>
          <p:cNvPr id="6" name="Footer Placeholder 5"/>
          <p:cNvSpPr>
            <a:spLocks noGrp="1"/>
          </p:cNvSpPr>
          <p:nvPr>
            <p:ph type="ftr" sz="quarter" idx="11"/>
          </p:nvPr>
        </p:nvSpPr>
        <p:spPr>
          <a:xfrm>
            <a:off x="1447382" y="318640"/>
            <a:ext cx="5541004" cy="320931"/>
          </a:xfrm>
        </p:spPr>
        <p:txBody>
          <a:bodyPr/>
          <a:lstStyle/>
          <a:p>
            <a:endParaRPr lang="en-IN" dirty="0"/>
          </a:p>
        </p:txBody>
      </p:sp>
      <p:sp>
        <p:nvSpPr>
          <p:cNvPr id="7" name="Slide Number Placeholder 6"/>
          <p:cNvSpPr>
            <a:spLocks noGrp="1"/>
          </p:cNvSpPr>
          <p:nvPr>
            <p:ph type="sldNum" sz="quarter" idx="12"/>
          </p:nvPr>
        </p:nvSpPr>
        <p:spPr/>
        <p:txBody>
          <a:bodyPr/>
          <a:lstStyle/>
          <a:p>
            <a:fld id="{F709E287-E1D5-4123-93FB-AE604AABEFE1}" type="slidenum">
              <a:rPr lang="en-IN" smtClean="0"/>
              <a:t>‹#›</a:t>
            </a:fld>
            <a:endParaRPr lang="en-IN" dirty="0"/>
          </a:p>
        </p:txBody>
      </p:sp>
      <p:cxnSp>
        <p:nvCxnSpPr>
          <p:cNvPr id="31" name="Straight Connector 30"/>
          <p:cNvCxnSpPr/>
          <p:nvPr/>
        </p:nvCxnSpPr>
        <p:spPr>
          <a:xfrm>
            <a:off x="1447382" y="3143605"/>
            <a:ext cx="5527351"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358722919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16AE82C-64B8-46AB-BE8D-F92FBCF277AD}" type="datetimeFigureOut">
              <a:rPr lang="en-IN" smtClean="0"/>
              <a:t>27-08-2026</a:t>
            </a:fld>
            <a:endParaRPr lang="en-IN" dirty="0"/>
          </a:p>
        </p:txBody>
      </p:sp>
      <p:sp>
        <p:nvSpPr>
          <p:cNvPr id="5" name="Footer Placeholder 4"/>
          <p:cNvSpPr>
            <a:spLocks noGrp="1"/>
          </p:cNvSpPr>
          <p:nvPr>
            <p:ph type="ftr" sz="quarter" idx="11"/>
          </p:nvPr>
        </p:nvSpPr>
        <p:spPr/>
        <p:txBody>
          <a:bodyPr/>
          <a:lstStyle/>
          <a:p>
            <a:endParaRPr lang="en-IN" dirty="0"/>
          </a:p>
        </p:txBody>
      </p:sp>
      <p:sp>
        <p:nvSpPr>
          <p:cNvPr id="6" name="Slide Number Placeholder 5"/>
          <p:cNvSpPr>
            <a:spLocks noGrp="1"/>
          </p:cNvSpPr>
          <p:nvPr>
            <p:ph type="sldNum" sz="quarter" idx="12"/>
          </p:nvPr>
        </p:nvSpPr>
        <p:spPr/>
        <p:txBody>
          <a:bodyPr/>
          <a:lstStyle/>
          <a:p>
            <a:fld id="{F709E287-E1D5-4123-93FB-AE604AABEFE1}" type="slidenum">
              <a:rPr lang="en-IN" smtClean="0"/>
              <a:t>‹#›</a:t>
            </a:fld>
            <a:endParaRPr lang="en-IN" dirty="0"/>
          </a:p>
        </p:txBody>
      </p:sp>
      <p:cxnSp>
        <p:nvCxnSpPr>
          <p:cNvPr id="26" name="Straight Connector 25"/>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408485751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439111" y="798973"/>
            <a:ext cx="1615742" cy="4659889"/>
          </a:xfrm>
        </p:spPr>
        <p:txBody>
          <a:bodyPr vert="eaVert"/>
          <a:lstStyle>
            <a:lvl1pPr algn="l">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1444672" y="798973"/>
            <a:ext cx="7828830" cy="4659889"/>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16AE82C-64B8-46AB-BE8D-F92FBCF277AD}" type="datetimeFigureOut">
              <a:rPr lang="en-IN" smtClean="0"/>
              <a:t>27-08-2026</a:t>
            </a:fld>
            <a:endParaRPr lang="en-IN" dirty="0"/>
          </a:p>
        </p:txBody>
      </p:sp>
      <p:sp>
        <p:nvSpPr>
          <p:cNvPr id="5" name="Footer Placeholder 4"/>
          <p:cNvSpPr>
            <a:spLocks noGrp="1"/>
          </p:cNvSpPr>
          <p:nvPr>
            <p:ph type="ftr" sz="quarter" idx="11"/>
          </p:nvPr>
        </p:nvSpPr>
        <p:spPr/>
        <p:txBody>
          <a:bodyPr/>
          <a:lstStyle/>
          <a:p>
            <a:endParaRPr lang="en-IN" dirty="0"/>
          </a:p>
        </p:txBody>
      </p:sp>
      <p:sp>
        <p:nvSpPr>
          <p:cNvPr id="6" name="Slide Number Placeholder 5"/>
          <p:cNvSpPr>
            <a:spLocks noGrp="1"/>
          </p:cNvSpPr>
          <p:nvPr>
            <p:ph type="sldNum" sz="quarter" idx="12"/>
          </p:nvPr>
        </p:nvSpPr>
        <p:spPr/>
        <p:txBody>
          <a:bodyPr/>
          <a:lstStyle/>
          <a:p>
            <a:fld id="{F709E287-E1D5-4123-93FB-AE604AABEFE1}" type="slidenum">
              <a:rPr lang="en-IN" smtClean="0"/>
              <a:t>‹#›</a:t>
            </a:fld>
            <a:endParaRPr lang="en-IN" dirty="0"/>
          </a:p>
        </p:txBody>
      </p:sp>
      <p:cxnSp>
        <p:nvCxnSpPr>
          <p:cNvPr id="15" name="Straight Connector 14"/>
          <p:cNvCxnSpPr/>
          <p:nvPr/>
        </p:nvCxnSpPr>
        <p:spPr>
          <a:xfrm>
            <a:off x="9439111" y="798973"/>
            <a:ext cx="0" cy="4659889"/>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327828285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8" name="Rectangle 7"/>
          <p:cNvSpPr/>
          <p:nvPr/>
        </p:nvSpPr>
        <p:spPr>
          <a:xfrm>
            <a:off x="0" y="2019476"/>
            <a:ext cx="12192000" cy="4105941"/>
          </a:xfrm>
          <a:prstGeom prst="rect">
            <a:avLst/>
          </a:prstGeom>
          <a:gradFill flip="none" rotWithShape="1">
            <a:gsLst>
              <a:gs pos="0">
                <a:schemeClr val="bg2">
                  <a:alpha val="0"/>
                </a:schemeClr>
              </a:gs>
              <a:gs pos="100000">
                <a:schemeClr val="bg2"/>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sp>
      <p:pic>
        <p:nvPicPr>
          <p:cNvPr id="7" name="Picture 6"/>
          <p:cNvPicPr>
            <a:picLocks noChangeAspect="1"/>
          </p:cNvPicPr>
          <p:nvPr/>
        </p:nvPicPr>
        <p:blipFill rotWithShape="1">
          <a:blip r:embed="rId13">
            <a:extLst>
              <a:ext uri="{28A0092B-C50C-407E-A947-70E740481C1C}">
                <a14:useLocalDpi xmlns:a14="http://schemas.microsoft.com/office/drawing/2010/main" val="0"/>
              </a:ext>
            </a:extLst>
          </a:blip>
          <a:srcRect t="1538" b="-1538"/>
          <a:stretch/>
        </p:blipFill>
        <p:spPr bwMode="black">
          <a:xfrm>
            <a:off x="0" y="6126480"/>
            <a:ext cx="12192000" cy="742950"/>
          </a:xfrm>
          <a:prstGeom prst="rect">
            <a:avLst/>
          </a:prstGeom>
        </p:spPr>
      </p:pic>
      <p:sp>
        <p:nvSpPr>
          <p:cNvPr id="2" name="Title Placeholder 1"/>
          <p:cNvSpPr>
            <a:spLocks noGrp="1"/>
          </p:cNvSpPr>
          <p:nvPr>
            <p:ph type="title"/>
          </p:nvPr>
        </p:nvSpPr>
        <p:spPr>
          <a:xfrm>
            <a:off x="1451579" y="804519"/>
            <a:ext cx="9603275" cy="1049235"/>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1451579" y="2015732"/>
            <a:ext cx="9603275" cy="345061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554138" y="330370"/>
            <a:ext cx="3500715" cy="309201"/>
          </a:xfrm>
          <a:prstGeom prst="rect">
            <a:avLst/>
          </a:prstGeom>
        </p:spPr>
        <p:txBody>
          <a:bodyPr vert="horz" lIns="91440" tIns="45720" rIns="91440" bIns="45720" rtlCol="0" anchor="ctr"/>
          <a:lstStyle>
            <a:lvl1pPr algn="r">
              <a:defRPr sz="1000">
                <a:solidFill>
                  <a:schemeClr val="tx1">
                    <a:tint val="75000"/>
                  </a:schemeClr>
                </a:solidFill>
              </a:defRPr>
            </a:lvl1pPr>
          </a:lstStyle>
          <a:p>
            <a:fld id="{516AE82C-64B8-46AB-BE8D-F92FBCF277AD}" type="datetimeFigureOut">
              <a:rPr lang="en-IN" smtClean="0"/>
              <a:t>27-08-2026</a:t>
            </a:fld>
            <a:endParaRPr lang="en-IN" dirty="0"/>
          </a:p>
        </p:txBody>
      </p:sp>
      <p:sp>
        <p:nvSpPr>
          <p:cNvPr id="5" name="Footer Placeholder 4"/>
          <p:cNvSpPr>
            <a:spLocks noGrp="1"/>
          </p:cNvSpPr>
          <p:nvPr>
            <p:ph type="ftr" sz="quarter" idx="3"/>
          </p:nvPr>
        </p:nvSpPr>
        <p:spPr>
          <a:xfrm>
            <a:off x="1451579" y="329307"/>
            <a:ext cx="5938836" cy="309201"/>
          </a:xfrm>
          <a:prstGeom prst="rect">
            <a:avLst/>
          </a:prstGeom>
        </p:spPr>
        <p:txBody>
          <a:bodyPr vert="horz" lIns="91440" tIns="45720" rIns="91440" bIns="45720" rtlCol="0" anchor="ctr"/>
          <a:lstStyle>
            <a:lvl1pPr algn="l">
              <a:defRPr sz="1000">
                <a:solidFill>
                  <a:schemeClr val="tx1">
                    <a:tint val="75000"/>
                  </a:schemeClr>
                </a:solidFill>
              </a:defRPr>
            </a:lvl1pPr>
          </a:lstStyle>
          <a:p>
            <a:endParaRPr lang="en-IN" dirty="0"/>
          </a:p>
        </p:txBody>
      </p:sp>
      <p:sp>
        <p:nvSpPr>
          <p:cNvPr id="6" name="Slide Number Placeholder 5"/>
          <p:cNvSpPr>
            <a:spLocks noGrp="1"/>
          </p:cNvSpPr>
          <p:nvPr>
            <p:ph type="sldNum" sz="quarter" idx="4"/>
          </p:nvPr>
        </p:nvSpPr>
        <p:spPr>
          <a:xfrm>
            <a:off x="480060" y="798973"/>
            <a:ext cx="811019" cy="503578"/>
          </a:xfrm>
          <a:prstGeom prst="rect">
            <a:avLst/>
          </a:prstGeom>
        </p:spPr>
        <p:txBody>
          <a:bodyPr vert="horz" lIns="91440" tIns="45720" rIns="91440" bIns="45720" rtlCol="0" anchor="t"/>
          <a:lstStyle>
            <a:lvl1pPr algn="r">
              <a:defRPr sz="2800">
                <a:solidFill>
                  <a:schemeClr val="accent1"/>
                </a:solidFill>
              </a:defRPr>
            </a:lvl1pPr>
          </a:lstStyle>
          <a:p>
            <a:fld id="{F709E287-E1D5-4123-93FB-AE604AABEFE1}" type="slidenum">
              <a:rPr lang="en-IN" smtClean="0"/>
              <a:t>‹#›</a:t>
            </a:fld>
            <a:endParaRPr lang="en-IN" dirty="0"/>
          </a:p>
        </p:txBody>
      </p:sp>
      <p:cxnSp>
        <p:nvCxnSpPr>
          <p:cNvPr id="10" name="Straight Connector 9"/>
          <p:cNvCxnSpPr/>
          <p:nvPr/>
        </p:nvCxnSpPr>
        <p:spPr>
          <a:xfrm>
            <a:off x="0" y="6128413"/>
            <a:ext cx="12192000" cy="0"/>
          </a:xfrm>
          <a:prstGeom prst="line">
            <a:avLst/>
          </a:prstGeom>
          <a:ln w="12700">
            <a:solidFill>
              <a:srgbClr val="000001">
                <a:alpha val="20000"/>
              </a:srgb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498491936"/>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3200" b="0" i="0" kern="1200" cap="all">
          <a:solidFill>
            <a:schemeClr val="tx1"/>
          </a:solidFill>
          <a:effectLst/>
          <a:latin typeface="+mj-lt"/>
          <a:ea typeface="+mj-ea"/>
          <a:cs typeface="+mj-cs"/>
        </a:defRPr>
      </a:lvl1pPr>
    </p:titleStyle>
    <p:bodyStyle>
      <a:lvl1pPr marL="228600" indent="-228600" algn="l" defTabSz="914400" rtl="0" eaLnBrk="1" latinLnBrk="0" hangingPunct="1">
        <a:lnSpc>
          <a:spcPct val="120000"/>
        </a:lnSpc>
        <a:spcBef>
          <a:spcPts val="1000"/>
        </a:spcBef>
        <a:buClr>
          <a:schemeClr val="accent1"/>
        </a:buClr>
        <a:buSzPct val="100000"/>
        <a:buFont typeface="Arial" panose="020B0604020202020204" pitchFamily="34" charset="0"/>
        <a:buChar char="•"/>
        <a:defRPr sz="2000" kern="1200">
          <a:solidFill>
            <a:schemeClr val="tx1"/>
          </a:solidFill>
          <a:effectLst/>
          <a:latin typeface="+mn-lt"/>
          <a:ea typeface="+mn-ea"/>
          <a:cs typeface="+mn-cs"/>
        </a:defRPr>
      </a:lvl1pPr>
      <a:lvl2pPr marL="685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800" kern="1200" cap="none" baseline="0">
          <a:solidFill>
            <a:schemeClr val="tx1"/>
          </a:solidFill>
          <a:effectLst/>
          <a:latin typeface="+mn-lt"/>
          <a:ea typeface="+mn-ea"/>
          <a:cs typeface="+mn-cs"/>
        </a:defRPr>
      </a:lvl2pPr>
      <a:lvl3pPr marL="1143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600" kern="1200">
          <a:solidFill>
            <a:schemeClr val="tx1"/>
          </a:solidFill>
          <a:effectLst/>
          <a:latin typeface="+mn-lt"/>
          <a:ea typeface="+mn-ea"/>
          <a:cs typeface="+mn-cs"/>
        </a:defRPr>
      </a:lvl3pPr>
      <a:lvl4pPr marL="1600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400" kern="1200" cap="none" baseline="0">
          <a:solidFill>
            <a:schemeClr val="tx1"/>
          </a:solidFill>
          <a:effectLst/>
          <a:latin typeface="+mn-lt"/>
          <a:ea typeface="+mn-ea"/>
          <a:cs typeface="+mn-cs"/>
        </a:defRPr>
      </a:lvl4pPr>
      <a:lvl5pPr marL="20574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5pPr>
      <a:lvl6pPr marL="25146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6pPr>
      <a:lvl7pPr marL="2971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7pPr>
      <a:lvl8pPr marL="3429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8pPr>
      <a:lvl9pPr marL="3886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07C493F1-8F9D-4D11-B9AF-DC6C17705937}"/>
              </a:ext>
            </a:extLst>
          </p:cNvPr>
          <p:cNvSpPr txBox="1"/>
          <p:nvPr/>
        </p:nvSpPr>
        <p:spPr>
          <a:xfrm>
            <a:off x="1741113" y="254639"/>
            <a:ext cx="8772525" cy="1107996"/>
          </a:xfrm>
          <a:prstGeom prst="rect">
            <a:avLst/>
          </a:prstGeom>
          <a:noFill/>
        </p:spPr>
        <p:txBody>
          <a:bodyPr wrap="square" rtlCol="0">
            <a:spAutoFit/>
          </a:bodyPr>
          <a:lstStyle/>
          <a:p>
            <a:r>
              <a:rPr lang="en-US" sz="2400" b="1" dirty="0">
                <a:latin typeface="Bahnschrift SemiBold SemiConden" panose="020B0502040204020203" pitchFamily="34" charset="0"/>
              </a:rPr>
              <a:t>TruthLens-RAG: An Evidence-Grounded RAG Framework for Explainable </a:t>
            </a:r>
          </a:p>
          <a:p>
            <a:r>
              <a:rPr lang="en-US" sz="2400" b="1" dirty="0">
                <a:latin typeface="Bahnschrift SemiBold SemiConden" panose="020B0502040204020203" pitchFamily="34" charset="0"/>
              </a:rPr>
              <a:t>                  Fake News Detection and Claim Verification</a:t>
            </a:r>
            <a:endParaRPr lang="en-IN" sz="2400" dirty="0"/>
          </a:p>
          <a:p>
            <a:endParaRPr lang="en-IN" dirty="0"/>
          </a:p>
        </p:txBody>
      </p:sp>
      <p:sp>
        <p:nvSpPr>
          <p:cNvPr id="4" name="TextBox 3">
            <a:extLst>
              <a:ext uri="{FF2B5EF4-FFF2-40B4-BE49-F238E27FC236}">
                <a16:creationId xmlns:a16="http://schemas.microsoft.com/office/drawing/2014/main" id="{E18E7184-0CEC-4EE5-A9C2-F3D999E8D505}"/>
              </a:ext>
            </a:extLst>
          </p:cNvPr>
          <p:cNvSpPr txBox="1"/>
          <p:nvPr/>
        </p:nvSpPr>
        <p:spPr>
          <a:xfrm>
            <a:off x="457200" y="1362635"/>
            <a:ext cx="11340353" cy="3754874"/>
          </a:xfrm>
          <a:prstGeom prst="rect">
            <a:avLst/>
          </a:prstGeom>
          <a:noFill/>
        </p:spPr>
        <p:txBody>
          <a:bodyPr wrap="square" rtlCol="0">
            <a:spAutoFit/>
          </a:bodyPr>
          <a:lstStyle/>
          <a:p>
            <a:pPr marL="342900" indent="-342900">
              <a:buFont typeface="Wingdings" panose="05000000000000000000" pitchFamily="2" charset="2"/>
              <a:buChar char="q"/>
            </a:pPr>
            <a:r>
              <a:rPr lang="en-US" sz="2000" u="sng" dirty="0">
                <a:latin typeface="Bahnschrift SemiBold SemiConden" panose="020B0502040204020203" pitchFamily="34" charset="0"/>
              </a:rPr>
              <a:t>Problem Statement:</a:t>
            </a:r>
            <a:br>
              <a:rPr lang="en-US" sz="2000" u="sng" dirty="0">
                <a:latin typeface="Agency FB" panose="020B0503020202020204" pitchFamily="34" charset="0"/>
              </a:rPr>
            </a:br>
            <a:br>
              <a:rPr lang="en-US" sz="2000" dirty="0"/>
            </a:br>
            <a:r>
              <a:rPr lang="en-US" sz="1800" dirty="0">
                <a:cs typeface="Arial" panose="020B0604020202020204" pitchFamily="34" charset="0"/>
              </a:rPr>
              <a:t>The rapid spread of fake and misleading news through social media, websites, and digital platforms makes it difficult for users to determine whether an online claim is trustworthy. Existing fake-news detection systems often provide only a “Fake/Real” prediction without showing the supporting evidence or clearly explaining how the decision was made.</a:t>
            </a:r>
            <a:br>
              <a:rPr lang="en-US" sz="1800" dirty="0">
                <a:cs typeface="Arial" panose="020B0604020202020204" pitchFamily="34" charset="0"/>
              </a:rPr>
            </a:br>
            <a:br>
              <a:rPr lang="en-US" sz="1800" dirty="0">
                <a:cs typeface="Arial" panose="020B0604020202020204" pitchFamily="34" charset="0"/>
              </a:rPr>
            </a:br>
            <a:r>
              <a:rPr lang="en-US" sz="1800" dirty="0">
                <a:cs typeface="Arial" panose="020B0604020202020204" pitchFamily="34" charset="0"/>
              </a:rPr>
              <a:t>TruthLens-RAG addresses this problem by developing an evidence-grounded AI system that retrieves relevant information from trusted sources, verifies the claim against the retrieved evidence, identifies whether the claim is supported, contradicted, or misleading, and provides an explainable credibility assessment with source references.</a:t>
            </a:r>
            <a:br>
              <a:rPr lang="en-US" sz="1800" dirty="0">
                <a:cs typeface="Arial" panose="020B0604020202020204" pitchFamily="34" charset="0"/>
              </a:rPr>
            </a:br>
            <a:br>
              <a:rPr lang="en-US" sz="1800" dirty="0">
                <a:latin typeface="Arial Narrow" panose="020B0606020202030204" pitchFamily="34" charset="0"/>
              </a:rPr>
            </a:br>
            <a:br>
              <a:rPr lang="en-US" sz="1800" dirty="0">
                <a:latin typeface="Arial Narrow" panose="020B0606020202030204" pitchFamily="34" charset="0"/>
              </a:rPr>
            </a:br>
            <a:endParaRPr lang="en-IN" dirty="0"/>
          </a:p>
        </p:txBody>
      </p:sp>
      <p:sp>
        <p:nvSpPr>
          <p:cNvPr id="6" name="TextBox 5">
            <a:extLst>
              <a:ext uri="{FF2B5EF4-FFF2-40B4-BE49-F238E27FC236}">
                <a16:creationId xmlns:a16="http://schemas.microsoft.com/office/drawing/2014/main" id="{891E4453-7774-495F-9C2A-EA17F2D9AE58}"/>
              </a:ext>
            </a:extLst>
          </p:cNvPr>
          <p:cNvSpPr txBox="1"/>
          <p:nvPr/>
        </p:nvSpPr>
        <p:spPr>
          <a:xfrm>
            <a:off x="484094" y="4644827"/>
            <a:ext cx="11107270" cy="1508105"/>
          </a:xfrm>
          <a:prstGeom prst="rect">
            <a:avLst/>
          </a:prstGeom>
          <a:noFill/>
        </p:spPr>
        <p:txBody>
          <a:bodyPr wrap="square" rtlCol="0">
            <a:spAutoFit/>
          </a:bodyPr>
          <a:lstStyle/>
          <a:p>
            <a:pPr marL="342900" indent="-342900">
              <a:buFont typeface="Wingdings" panose="05000000000000000000" pitchFamily="2" charset="2"/>
              <a:buChar char="q"/>
            </a:pPr>
            <a:r>
              <a:rPr lang="en-US" sz="2000" u="sng" dirty="0">
                <a:latin typeface="Bahnschrift SemiBold SemiConden" panose="020B0502040204020203" pitchFamily="34" charset="0"/>
              </a:rPr>
              <a:t>Objective:</a:t>
            </a:r>
          </a:p>
          <a:p>
            <a:endParaRPr lang="en-US" dirty="0"/>
          </a:p>
          <a:p>
            <a:r>
              <a:rPr lang="en-US" dirty="0"/>
              <a:t>The main objective of TruthLens-RAG is to develop an evidence-grounded, explainable AI system for verifying</a:t>
            </a:r>
          </a:p>
          <a:p>
            <a:r>
              <a:rPr lang="en-US" dirty="0"/>
              <a:t>online news claims using Retrieval-Augmented Generation (RAG)</a:t>
            </a:r>
          </a:p>
          <a:p>
            <a:endParaRPr lang="en-IN" dirty="0"/>
          </a:p>
        </p:txBody>
      </p:sp>
    </p:spTree>
    <p:extLst>
      <p:ext uri="{BB962C8B-B14F-4D97-AF65-F5344CB8AC3E}">
        <p14:creationId xmlns:p14="http://schemas.microsoft.com/office/powerpoint/2010/main" val="409210551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gradFill flip="none" rotWithShape="1">
          <a:gsLst>
            <a:gs pos="0">
              <a:schemeClr val="bg2">
                <a:tint val="94000"/>
                <a:satMod val="80000"/>
                <a:lumMod val="106000"/>
              </a:schemeClr>
            </a:gs>
            <a:gs pos="100000">
              <a:schemeClr val="bg2">
                <a:shade val="80000"/>
              </a:schemeClr>
            </a:gs>
          </a:gsLst>
          <a:path path="circle">
            <a:fillToRect l="100000" t="100000"/>
          </a:path>
          <a:tileRect r="-100000" b="-100000"/>
        </a:gradFill>
        <a:effectLst/>
      </p:bgPr>
    </p:bg>
    <p:spTree>
      <p:nvGrpSpPr>
        <p:cNvPr id="1" name=""/>
        <p:cNvGrpSpPr/>
        <p:nvPr/>
      </p:nvGrpSpPr>
      <p:grpSpPr>
        <a:xfrm>
          <a:off x="0" y="0"/>
          <a:ext cx="0" cy="0"/>
          <a:chOff x="0" y="0"/>
          <a:chExt cx="0" cy="0"/>
        </a:xfrm>
      </p:grpSpPr>
      <p:graphicFrame>
        <p:nvGraphicFramePr>
          <p:cNvPr id="2" name="Table 1">
            <a:extLst>
              <a:ext uri="{FF2B5EF4-FFF2-40B4-BE49-F238E27FC236}">
                <a16:creationId xmlns:a16="http://schemas.microsoft.com/office/drawing/2014/main" id="{F65571CC-E1DF-480D-ABE8-169805E69302}"/>
              </a:ext>
            </a:extLst>
          </p:cNvPr>
          <p:cNvGraphicFramePr>
            <a:graphicFrameLocks noGrp="1"/>
          </p:cNvGraphicFramePr>
          <p:nvPr>
            <p:extLst>
              <p:ext uri="{D42A27DB-BD31-4B8C-83A1-F6EECF244321}">
                <p14:modId xmlns:p14="http://schemas.microsoft.com/office/powerpoint/2010/main" val="36957036"/>
              </p:ext>
            </p:extLst>
          </p:nvPr>
        </p:nvGraphicFramePr>
        <p:xfrm>
          <a:off x="6219825" y="247649"/>
          <a:ext cx="5640480" cy="5762625"/>
        </p:xfrm>
        <a:graphic>
          <a:graphicData uri="http://schemas.openxmlformats.org/drawingml/2006/table">
            <a:tbl>
              <a:tblPr>
                <a:tableStyleId>{3C2FFA5D-87B4-456A-9821-1D502468CF0F}</a:tableStyleId>
              </a:tblPr>
              <a:tblGrid>
                <a:gridCol w="1880160">
                  <a:extLst>
                    <a:ext uri="{9D8B030D-6E8A-4147-A177-3AD203B41FA5}">
                      <a16:colId xmlns:a16="http://schemas.microsoft.com/office/drawing/2014/main" val="2880872576"/>
                    </a:ext>
                  </a:extLst>
                </a:gridCol>
                <a:gridCol w="1880160">
                  <a:extLst>
                    <a:ext uri="{9D8B030D-6E8A-4147-A177-3AD203B41FA5}">
                      <a16:colId xmlns:a16="http://schemas.microsoft.com/office/drawing/2014/main" val="369865120"/>
                    </a:ext>
                  </a:extLst>
                </a:gridCol>
                <a:gridCol w="1880160">
                  <a:extLst>
                    <a:ext uri="{9D8B030D-6E8A-4147-A177-3AD203B41FA5}">
                      <a16:colId xmlns:a16="http://schemas.microsoft.com/office/drawing/2014/main" val="2984590341"/>
                    </a:ext>
                  </a:extLst>
                </a:gridCol>
              </a:tblGrid>
              <a:tr h="296250">
                <a:tc>
                  <a:txBody>
                    <a:bodyPr/>
                    <a:lstStyle/>
                    <a:p>
                      <a:r>
                        <a:rPr lang="en-IN" sz="900" dirty="0"/>
                        <a:t>Component</a:t>
                      </a:r>
                    </a:p>
                  </a:txBody>
                  <a:tcPr marL="43666" marR="43666" marT="21833" marB="21833" anchor="ctr"/>
                </a:tc>
                <a:tc>
                  <a:txBody>
                    <a:bodyPr/>
                    <a:lstStyle/>
                    <a:p>
                      <a:r>
                        <a:rPr lang="en-IN" sz="900" dirty="0"/>
                        <a:t>Recommended Technology</a:t>
                      </a:r>
                    </a:p>
                  </a:txBody>
                  <a:tcPr marL="43666" marR="43666" marT="21833" marB="21833" anchor="ctr"/>
                </a:tc>
                <a:tc>
                  <a:txBody>
                    <a:bodyPr/>
                    <a:lstStyle/>
                    <a:p>
                      <a:r>
                        <a:rPr lang="en-IN" sz="900" dirty="0"/>
                        <a:t>Purpose</a:t>
                      </a:r>
                    </a:p>
                  </a:txBody>
                  <a:tcPr marL="43666" marR="43666" marT="21833" marB="21833" anchor="ctr"/>
                </a:tc>
                <a:extLst>
                  <a:ext uri="{0D108BD9-81ED-4DB2-BD59-A6C34878D82A}">
                    <a16:rowId xmlns:a16="http://schemas.microsoft.com/office/drawing/2014/main" val="3763064887"/>
                  </a:ext>
                </a:extLst>
              </a:tr>
              <a:tr h="296250">
                <a:tc>
                  <a:txBody>
                    <a:bodyPr/>
                    <a:lstStyle/>
                    <a:p>
                      <a:r>
                        <a:rPr lang="en-IN" sz="900" b="1" dirty="0"/>
                        <a:t>Programming Language</a:t>
                      </a:r>
                      <a:endParaRPr lang="en-IN" sz="900" dirty="0"/>
                    </a:p>
                  </a:txBody>
                  <a:tcPr marL="43666" marR="43666" marT="21833" marB="21833" anchor="ctr"/>
                </a:tc>
                <a:tc>
                  <a:txBody>
                    <a:bodyPr/>
                    <a:lstStyle/>
                    <a:p>
                      <a:r>
                        <a:rPr lang="en-IN" sz="900" dirty="0"/>
                        <a:t>Python</a:t>
                      </a:r>
                    </a:p>
                  </a:txBody>
                  <a:tcPr marL="43666" marR="43666" marT="21833" marB="21833" anchor="ctr"/>
                </a:tc>
                <a:tc>
                  <a:txBody>
                    <a:bodyPr/>
                    <a:lstStyle/>
                    <a:p>
                      <a:r>
                        <a:rPr lang="en-IN" sz="900" dirty="0"/>
                        <a:t>Complete AI/RAG pipeline</a:t>
                      </a:r>
                    </a:p>
                  </a:txBody>
                  <a:tcPr marL="43666" marR="43666" marT="21833" marB="21833" anchor="ctr"/>
                </a:tc>
                <a:extLst>
                  <a:ext uri="{0D108BD9-81ED-4DB2-BD59-A6C34878D82A}">
                    <a16:rowId xmlns:a16="http://schemas.microsoft.com/office/drawing/2014/main" val="2149697848"/>
                  </a:ext>
                </a:extLst>
              </a:tr>
              <a:tr h="296250">
                <a:tc>
                  <a:txBody>
                    <a:bodyPr/>
                    <a:lstStyle/>
                    <a:p>
                      <a:r>
                        <a:rPr lang="en-IN" sz="900" b="1" dirty="0"/>
                        <a:t>Frontend</a:t>
                      </a:r>
                      <a:endParaRPr lang="en-IN" sz="900" dirty="0"/>
                    </a:p>
                  </a:txBody>
                  <a:tcPr marL="43666" marR="43666" marT="21833" marB="21833" anchor="ctr"/>
                </a:tc>
                <a:tc>
                  <a:txBody>
                    <a:bodyPr/>
                    <a:lstStyle/>
                    <a:p>
                      <a:r>
                        <a:rPr lang="en-IN" sz="900" dirty="0"/>
                        <a:t>Streamlit / React</a:t>
                      </a:r>
                    </a:p>
                  </a:txBody>
                  <a:tcPr marL="43666" marR="43666" marT="21833" marB="21833" anchor="ctr"/>
                </a:tc>
                <a:tc>
                  <a:txBody>
                    <a:bodyPr/>
                    <a:lstStyle/>
                    <a:p>
                      <a:r>
                        <a:rPr lang="en-IN" sz="900" dirty="0"/>
                        <a:t>User interface</a:t>
                      </a:r>
                    </a:p>
                  </a:txBody>
                  <a:tcPr marL="43666" marR="43666" marT="21833" marB="21833" anchor="ctr"/>
                </a:tc>
                <a:extLst>
                  <a:ext uri="{0D108BD9-81ED-4DB2-BD59-A6C34878D82A}">
                    <a16:rowId xmlns:a16="http://schemas.microsoft.com/office/drawing/2014/main" val="4256266424"/>
                  </a:ext>
                </a:extLst>
              </a:tr>
              <a:tr h="296250">
                <a:tc>
                  <a:txBody>
                    <a:bodyPr/>
                    <a:lstStyle/>
                    <a:p>
                      <a:r>
                        <a:rPr lang="en-IN" sz="900" b="1" dirty="0"/>
                        <a:t>Backend</a:t>
                      </a:r>
                      <a:endParaRPr lang="en-IN" sz="900" dirty="0"/>
                    </a:p>
                  </a:txBody>
                  <a:tcPr marL="43666" marR="43666" marT="21833" marB="21833" anchor="ctr"/>
                </a:tc>
                <a:tc>
                  <a:txBody>
                    <a:bodyPr/>
                    <a:lstStyle/>
                    <a:p>
                      <a:r>
                        <a:rPr lang="en-IN" sz="900" dirty="0"/>
                        <a:t>FastAPI</a:t>
                      </a:r>
                    </a:p>
                  </a:txBody>
                  <a:tcPr marL="43666" marR="43666" marT="21833" marB="21833" anchor="ctr"/>
                </a:tc>
                <a:tc>
                  <a:txBody>
                    <a:bodyPr/>
                    <a:lstStyle/>
                    <a:p>
                      <a:r>
                        <a:rPr lang="en-IN" sz="900" dirty="0"/>
                        <a:t>API and system integration</a:t>
                      </a:r>
                    </a:p>
                  </a:txBody>
                  <a:tcPr marL="43666" marR="43666" marT="21833" marB="21833" anchor="ctr"/>
                </a:tc>
                <a:extLst>
                  <a:ext uri="{0D108BD9-81ED-4DB2-BD59-A6C34878D82A}">
                    <a16:rowId xmlns:a16="http://schemas.microsoft.com/office/drawing/2014/main" val="809947064"/>
                  </a:ext>
                </a:extLst>
              </a:tr>
              <a:tr h="500775">
                <a:tc>
                  <a:txBody>
                    <a:bodyPr/>
                    <a:lstStyle/>
                    <a:p>
                      <a:r>
                        <a:rPr lang="en-IN" sz="900" b="1" dirty="0"/>
                        <a:t>LLM</a:t>
                      </a:r>
                      <a:endParaRPr lang="en-IN" sz="900" dirty="0"/>
                    </a:p>
                  </a:txBody>
                  <a:tcPr marL="43666" marR="43666" marT="21833" marB="21833" anchor="ctr"/>
                </a:tc>
                <a:tc>
                  <a:txBody>
                    <a:bodyPr/>
                    <a:lstStyle/>
                    <a:p>
                      <a:r>
                        <a:rPr lang="en-IN" sz="900" dirty="0"/>
                        <a:t>Llama 3 / Mistral / GPT-based model</a:t>
                      </a:r>
                    </a:p>
                  </a:txBody>
                  <a:tcPr marL="43666" marR="43666" marT="21833" marB="21833" anchor="ctr"/>
                </a:tc>
                <a:tc>
                  <a:txBody>
                    <a:bodyPr/>
                    <a:lstStyle/>
                    <a:p>
                      <a:r>
                        <a:rPr lang="en-IN" sz="900" dirty="0"/>
                        <a:t>Reasoning and explanation</a:t>
                      </a:r>
                    </a:p>
                  </a:txBody>
                  <a:tcPr marL="43666" marR="43666" marT="21833" marB="21833" anchor="ctr"/>
                </a:tc>
                <a:extLst>
                  <a:ext uri="{0D108BD9-81ED-4DB2-BD59-A6C34878D82A}">
                    <a16:rowId xmlns:a16="http://schemas.microsoft.com/office/drawing/2014/main" val="1760234566"/>
                  </a:ext>
                </a:extLst>
              </a:tr>
              <a:tr h="296250">
                <a:tc>
                  <a:txBody>
                    <a:bodyPr/>
                    <a:lstStyle/>
                    <a:p>
                      <a:r>
                        <a:rPr lang="en-IN" sz="900" b="1" dirty="0"/>
                        <a:t>RAG Framework</a:t>
                      </a:r>
                      <a:endParaRPr lang="en-IN" sz="900" dirty="0"/>
                    </a:p>
                  </a:txBody>
                  <a:tcPr marL="43666" marR="43666" marT="21833" marB="21833" anchor="ctr"/>
                </a:tc>
                <a:tc>
                  <a:txBody>
                    <a:bodyPr/>
                    <a:lstStyle/>
                    <a:p>
                      <a:r>
                        <a:rPr lang="en-IN" sz="900" dirty="0"/>
                        <a:t>LangChain / LlamaIndex</a:t>
                      </a:r>
                    </a:p>
                  </a:txBody>
                  <a:tcPr marL="43666" marR="43666" marT="21833" marB="21833" anchor="ctr"/>
                </a:tc>
                <a:tc>
                  <a:txBody>
                    <a:bodyPr/>
                    <a:lstStyle/>
                    <a:p>
                      <a:r>
                        <a:rPr lang="en-IN" sz="900" dirty="0"/>
                        <a:t>Retrieval + LLM orchestration</a:t>
                      </a:r>
                    </a:p>
                  </a:txBody>
                  <a:tcPr marL="43666" marR="43666" marT="21833" marB="21833" anchor="ctr"/>
                </a:tc>
                <a:extLst>
                  <a:ext uri="{0D108BD9-81ED-4DB2-BD59-A6C34878D82A}">
                    <a16:rowId xmlns:a16="http://schemas.microsoft.com/office/drawing/2014/main" val="2012605445"/>
                  </a:ext>
                </a:extLst>
              </a:tr>
              <a:tr h="500775">
                <a:tc>
                  <a:txBody>
                    <a:bodyPr/>
                    <a:lstStyle/>
                    <a:p>
                      <a:r>
                        <a:rPr lang="en-IN" sz="900" b="1" dirty="0"/>
                        <a:t>Embedding Model</a:t>
                      </a:r>
                      <a:endParaRPr lang="en-IN" sz="900" dirty="0"/>
                    </a:p>
                  </a:txBody>
                  <a:tcPr marL="43666" marR="43666" marT="21833" marB="21833" anchor="ctr"/>
                </a:tc>
                <a:tc>
                  <a:txBody>
                    <a:bodyPr/>
                    <a:lstStyle/>
                    <a:p>
                      <a:r>
                        <a:rPr lang="en-IN" sz="900" dirty="0"/>
                        <a:t>BGE / Sentence Transformers</a:t>
                      </a:r>
                    </a:p>
                  </a:txBody>
                  <a:tcPr marL="43666" marR="43666" marT="21833" marB="21833" anchor="ctr"/>
                </a:tc>
                <a:tc>
                  <a:txBody>
                    <a:bodyPr/>
                    <a:lstStyle/>
                    <a:p>
                      <a:r>
                        <a:rPr lang="en-US" sz="900" dirty="0"/>
                        <a:t>Convert claims/documents into vectors</a:t>
                      </a:r>
                    </a:p>
                  </a:txBody>
                  <a:tcPr marL="43666" marR="43666" marT="21833" marB="21833" anchor="ctr"/>
                </a:tc>
                <a:extLst>
                  <a:ext uri="{0D108BD9-81ED-4DB2-BD59-A6C34878D82A}">
                    <a16:rowId xmlns:a16="http://schemas.microsoft.com/office/drawing/2014/main" val="2748457814"/>
                  </a:ext>
                </a:extLst>
              </a:tr>
              <a:tr h="296250">
                <a:tc>
                  <a:txBody>
                    <a:bodyPr/>
                    <a:lstStyle/>
                    <a:p>
                      <a:r>
                        <a:rPr lang="en-IN" sz="900" b="1" dirty="0"/>
                        <a:t>Vector Database</a:t>
                      </a:r>
                      <a:endParaRPr lang="en-IN" sz="900" dirty="0"/>
                    </a:p>
                  </a:txBody>
                  <a:tcPr marL="43666" marR="43666" marT="21833" marB="21833" anchor="ctr"/>
                </a:tc>
                <a:tc>
                  <a:txBody>
                    <a:bodyPr/>
                    <a:lstStyle/>
                    <a:p>
                      <a:r>
                        <a:rPr lang="en-IN" sz="900" dirty="0"/>
                        <a:t>FAISS / Chroma / Qdrant</a:t>
                      </a:r>
                    </a:p>
                  </a:txBody>
                  <a:tcPr marL="43666" marR="43666" marT="21833" marB="21833" anchor="ctr"/>
                </a:tc>
                <a:tc>
                  <a:txBody>
                    <a:bodyPr/>
                    <a:lstStyle/>
                    <a:p>
                      <a:r>
                        <a:rPr lang="en-IN" sz="900" dirty="0"/>
                        <a:t>Store and retrieve evidence</a:t>
                      </a:r>
                    </a:p>
                  </a:txBody>
                  <a:tcPr marL="43666" marR="43666" marT="21833" marB="21833" anchor="ctr"/>
                </a:tc>
                <a:extLst>
                  <a:ext uri="{0D108BD9-81ED-4DB2-BD59-A6C34878D82A}">
                    <a16:rowId xmlns:a16="http://schemas.microsoft.com/office/drawing/2014/main" val="3868283958"/>
                  </a:ext>
                </a:extLst>
              </a:tr>
              <a:tr h="500775">
                <a:tc>
                  <a:txBody>
                    <a:bodyPr/>
                    <a:lstStyle/>
                    <a:p>
                      <a:r>
                        <a:rPr lang="en-IN" sz="900" b="1" dirty="0"/>
                        <a:t>Document Processing</a:t>
                      </a:r>
                      <a:endParaRPr lang="en-IN" sz="900" dirty="0"/>
                    </a:p>
                  </a:txBody>
                  <a:tcPr marL="43666" marR="43666" marT="21833" marB="21833" anchor="ctr"/>
                </a:tc>
                <a:tc>
                  <a:txBody>
                    <a:bodyPr/>
                    <a:lstStyle/>
                    <a:p>
                      <a:r>
                        <a:rPr lang="en-IN" sz="900" dirty="0"/>
                        <a:t>PyMuPDF / Unstructured</a:t>
                      </a:r>
                    </a:p>
                  </a:txBody>
                  <a:tcPr marL="43666" marR="43666" marT="21833" marB="21833" anchor="ctr"/>
                </a:tc>
                <a:tc>
                  <a:txBody>
                    <a:bodyPr/>
                    <a:lstStyle/>
                    <a:p>
                      <a:r>
                        <a:rPr lang="en-IN" sz="900" dirty="0"/>
                        <a:t>Extract text from PDFs/documents</a:t>
                      </a:r>
                    </a:p>
                  </a:txBody>
                  <a:tcPr marL="43666" marR="43666" marT="21833" marB="21833" anchor="ctr"/>
                </a:tc>
                <a:extLst>
                  <a:ext uri="{0D108BD9-81ED-4DB2-BD59-A6C34878D82A}">
                    <a16:rowId xmlns:a16="http://schemas.microsoft.com/office/drawing/2014/main" val="211892019"/>
                  </a:ext>
                </a:extLst>
              </a:tr>
              <a:tr h="296250">
                <a:tc>
                  <a:txBody>
                    <a:bodyPr/>
                    <a:lstStyle/>
                    <a:p>
                      <a:r>
                        <a:rPr lang="en-IN" sz="900" b="1" dirty="0"/>
                        <a:t>NLP</a:t>
                      </a:r>
                      <a:endParaRPr lang="en-IN" sz="900" dirty="0"/>
                    </a:p>
                  </a:txBody>
                  <a:tcPr marL="43666" marR="43666" marT="21833" marB="21833" anchor="ctr"/>
                </a:tc>
                <a:tc>
                  <a:txBody>
                    <a:bodyPr/>
                    <a:lstStyle/>
                    <a:p>
                      <a:r>
                        <a:rPr lang="en-IN" sz="900" dirty="0"/>
                        <a:t>Hugging Face Transformers</a:t>
                      </a:r>
                    </a:p>
                  </a:txBody>
                  <a:tcPr marL="43666" marR="43666" marT="21833" marB="21833" anchor="ctr"/>
                </a:tc>
                <a:tc>
                  <a:txBody>
                    <a:bodyPr/>
                    <a:lstStyle/>
                    <a:p>
                      <a:r>
                        <a:rPr lang="en-IN" sz="900" dirty="0"/>
                        <a:t>Claim extraction/classification</a:t>
                      </a:r>
                    </a:p>
                  </a:txBody>
                  <a:tcPr marL="43666" marR="43666" marT="21833" marB="21833" anchor="ctr"/>
                </a:tc>
                <a:extLst>
                  <a:ext uri="{0D108BD9-81ED-4DB2-BD59-A6C34878D82A}">
                    <a16:rowId xmlns:a16="http://schemas.microsoft.com/office/drawing/2014/main" val="3978452381"/>
                  </a:ext>
                </a:extLst>
              </a:tr>
              <a:tr h="296250">
                <a:tc>
                  <a:txBody>
                    <a:bodyPr/>
                    <a:lstStyle/>
                    <a:p>
                      <a:r>
                        <a:rPr lang="en-IN" sz="900" b="1" dirty="0"/>
                        <a:t>Reranker</a:t>
                      </a:r>
                      <a:endParaRPr lang="en-IN" sz="900" dirty="0"/>
                    </a:p>
                  </a:txBody>
                  <a:tcPr marL="43666" marR="43666" marT="21833" marB="21833" anchor="ctr"/>
                </a:tc>
                <a:tc>
                  <a:txBody>
                    <a:bodyPr/>
                    <a:lstStyle/>
                    <a:p>
                      <a:r>
                        <a:rPr lang="en-IN" sz="900" dirty="0"/>
                        <a:t>Cross-Encoder / BGE Reranker</a:t>
                      </a:r>
                    </a:p>
                  </a:txBody>
                  <a:tcPr marL="43666" marR="43666" marT="21833" marB="21833" anchor="ctr"/>
                </a:tc>
                <a:tc>
                  <a:txBody>
                    <a:bodyPr/>
                    <a:lstStyle/>
                    <a:p>
                      <a:r>
                        <a:rPr lang="en-IN" sz="900" dirty="0"/>
                        <a:t>Improve evidence ranking</a:t>
                      </a:r>
                    </a:p>
                  </a:txBody>
                  <a:tcPr marL="43666" marR="43666" marT="21833" marB="21833" anchor="ctr"/>
                </a:tc>
                <a:extLst>
                  <a:ext uri="{0D108BD9-81ED-4DB2-BD59-A6C34878D82A}">
                    <a16:rowId xmlns:a16="http://schemas.microsoft.com/office/drawing/2014/main" val="234807607"/>
                  </a:ext>
                </a:extLst>
              </a:tr>
              <a:tr h="500775">
                <a:tc>
                  <a:txBody>
                    <a:bodyPr/>
                    <a:lstStyle/>
                    <a:p>
                      <a:r>
                        <a:rPr lang="en-IN" sz="900" b="1" dirty="0"/>
                        <a:t>Verification</a:t>
                      </a:r>
                      <a:endParaRPr lang="en-IN" sz="900" dirty="0"/>
                    </a:p>
                  </a:txBody>
                  <a:tcPr marL="43666" marR="43666" marT="21833" marB="21833" anchor="ctr"/>
                </a:tc>
                <a:tc>
                  <a:txBody>
                    <a:bodyPr/>
                    <a:lstStyle/>
                    <a:p>
                      <a:r>
                        <a:rPr lang="en-IN" sz="900" dirty="0"/>
                        <a:t>NLI model + LLM</a:t>
                      </a:r>
                    </a:p>
                  </a:txBody>
                  <a:tcPr marL="43666" marR="43666" marT="21833" marB="21833" anchor="ctr"/>
                </a:tc>
                <a:tc>
                  <a:txBody>
                    <a:bodyPr/>
                    <a:lstStyle/>
                    <a:p>
                      <a:r>
                        <a:rPr lang="en-IN" sz="900" dirty="0"/>
                        <a:t>Determine support/contradiction</a:t>
                      </a:r>
                    </a:p>
                  </a:txBody>
                  <a:tcPr marL="43666" marR="43666" marT="21833" marB="21833" anchor="ctr"/>
                </a:tc>
                <a:extLst>
                  <a:ext uri="{0D108BD9-81ED-4DB2-BD59-A6C34878D82A}">
                    <a16:rowId xmlns:a16="http://schemas.microsoft.com/office/drawing/2014/main" val="4163621134"/>
                  </a:ext>
                </a:extLst>
              </a:tr>
              <a:tr h="296250">
                <a:tc>
                  <a:txBody>
                    <a:bodyPr/>
                    <a:lstStyle/>
                    <a:p>
                      <a:r>
                        <a:rPr lang="en-IN" sz="900" b="1" dirty="0"/>
                        <a:t>Database</a:t>
                      </a:r>
                      <a:endParaRPr lang="en-IN" sz="900" dirty="0"/>
                    </a:p>
                  </a:txBody>
                  <a:tcPr marL="43666" marR="43666" marT="21833" marB="21833" anchor="ctr"/>
                </a:tc>
                <a:tc>
                  <a:txBody>
                    <a:bodyPr/>
                    <a:lstStyle/>
                    <a:p>
                      <a:r>
                        <a:rPr lang="en-IN" sz="900" dirty="0"/>
                        <a:t>PostgreSQL</a:t>
                      </a:r>
                    </a:p>
                  </a:txBody>
                  <a:tcPr marL="43666" marR="43666" marT="21833" marB="21833" anchor="ctr"/>
                </a:tc>
                <a:tc>
                  <a:txBody>
                    <a:bodyPr/>
                    <a:lstStyle/>
                    <a:p>
                      <a:r>
                        <a:rPr lang="en-IN" sz="900" dirty="0"/>
                        <a:t>Store claims, results, metadata</a:t>
                      </a:r>
                    </a:p>
                  </a:txBody>
                  <a:tcPr marL="43666" marR="43666" marT="21833" marB="21833" anchor="ctr"/>
                </a:tc>
                <a:extLst>
                  <a:ext uri="{0D108BD9-81ED-4DB2-BD59-A6C34878D82A}">
                    <a16:rowId xmlns:a16="http://schemas.microsoft.com/office/drawing/2014/main" val="2823679848"/>
                  </a:ext>
                </a:extLst>
              </a:tr>
              <a:tr h="500775">
                <a:tc>
                  <a:txBody>
                    <a:bodyPr/>
                    <a:lstStyle/>
                    <a:p>
                      <a:r>
                        <a:rPr lang="en-IN" sz="900" b="1" dirty="0"/>
                        <a:t>Evaluation</a:t>
                      </a:r>
                      <a:endParaRPr lang="en-IN" sz="900" dirty="0"/>
                    </a:p>
                  </a:txBody>
                  <a:tcPr marL="43666" marR="43666" marT="21833" marB="21833" anchor="ctr"/>
                </a:tc>
                <a:tc>
                  <a:txBody>
                    <a:bodyPr/>
                    <a:lstStyle/>
                    <a:p>
                      <a:r>
                        <a:rPr lang="en-IN" sz="900" dirty="0"/>
                        <a:t>scikit-learn + RAG evaluation</a:t>
                      </a:r>
                    </a:p>
                  </a:txBody>
                  <a:tcPr marL="43666" marR="43666" marT="21833" marB="21833" anchor="ctr"/>
                </a:tc>
                <a:tc>
                  <a:txBody>
                    <a:bodyPr/>
                    <a:lstStyle/>
                    <a:p>
                      <a:r>
                        <a:rPr lang="en-US" sz="900" dirty="0"/>
                        <a:t>Accuracy, F1, retrieval and RAG metrics</a:t>
                      </a:r>
                    </a:p>
                  </a:txBody>
                  <a:tcPr marL="43666" marR="43666" marT="21833" marB="21833" anchor="ctr"/>
                </a:tc>
                <a:extLst>
                  <a:ext uri="{0D108BD9-81ED-4DB2-BD59-A6C34878D82A}">
                    <a16:rowId xmlns:a16="http://schemas.microsoft.com/office/drawing/2014/main" val="444976845"/>
                  </a:ext>
                </a:extLst>
              </a:tr>
              <a:tr h="296250">
                <a:tc>
                  <a:txBody>
                    <a:bodyPr/>
                    <a:lstStyle/>
                    <a:p>
                      <a:r>
                        <a:rPr lang="en-IN" sz="900" b="1" dirty="0"/>
                        <a:t>Deployment</a:t>
                      </a:r>
                      <a:endParaRPr lang="en-IN" sz="900" dirty="0"/>
                    </a:p>
                  </a:txBody>
                  <a:tcPr marL="43666" marR="43666" marT="21833" marB="21833" anchor="ctr"/>
                </a:tc>
                <a:tc>
                  <a:txBody>
                    <a:bodyPr/>
                    <a:lstStyle/>
                    <a:p>
                      <a:r>
                        <a:rPr lang="en-IN" sz="900" dirty="0"/>
                        <a:t>Docker + cloud/local server</a:t>
                      </a:r>
                    </a:p>
                  </a:txBody>
                  <a:tcPr marL="43666" marR="43666" marT="21833" marB="21833" anchor="ctr"/>
                </a:tc>
                <a:tc>
                  <a:txBody>
                    <a:bodyPr/>
                    <a:lstStyle/>
                    <a:p>
                      <a:r>
                        <a:rPr lang="en-IN" sz="900" dirty="0"/>
                        <a:t>Deploy the application</a:t>
                      </a:r>
                    </a:p>
                  </a:txBody>
                  <a:tcPr marL="43666" marR="43666" marT="21833" marB="21833" anchor="ctr"/>
                </a:tc>
                <a:extLst>
                  <a:ext uri="{0D108BD9-81ED-4DB2-BD59-A6C34878D82A}">
                    <a16:rowId xmlns:a16="http://schemas.microsoft.com/office/drawing/2014/main" val="4246123312"/>
                  </a:ext>
                </a:extLst>
              </a:tr>
              <a:tr h="296250">
                <a:tc>
                  <a:txBody>
                    <a:bodyPr/>
                    <a:lstStyle/>
                    <a:p>
                      <a:r>
                        <a:rPr lang="en-IN" sz="900" b="1" dirty="0"/>
                        <a:t>Version Control</a:t>
                      </a:r>
                      <a:endParaRPr lang="en-IN" sz="900" dirty="0"/>
                    </a:p>
                  </a:txBody>
                  <a:tcPr marL="43666" marR="43666" marT="21833" marB="21833" anchor="ctr"/>
                </a:tc>
                <a:tc>
                  <a:txBody>
                    <a:bodyPr/>
                    <a:lstStyle/>
                    <a:p>
                      <a:r>
                        <a:rPr lang="en-IN" sz="900" dirty="0"/>
                        <a:t>Git + GitHub</a:t>
                      </a:r>
                    </a:p>
                  </a:txBody>
                  <a:tcPr marL="43666" marR="43666" marT="21833" marB="21833" anchor="ctr"/>
                </a:tc>
                <a:tc>
                  <a:txBody>
                    <a:bodyPr/>
                    <a:lstStyle/>
                    <a:p>
                      <a:r>
                        <a:rPr lang="en-IN" sz="900" dirty="0"/>
                        <a:t>Code management</a:t>
                      </a:r>
                    </a:p>
                  </a:txBody>
                  <a:tcPr marL="43666" marR="43666" marT="21833" marB="21833" anchor="ctr"/>
                </a:tc>
                <a:extLst>
                  <a:ext uri="{0D108BD9-81ED-4DB2-BD59-A6C34878D82A}">
                    <a16:rowId xmlns:a16="http://schemas.microsoft.com/office/drawing/2014/main" val="451512200"/>
                  </a:ext>
                </a:extLst>
              </a:tr>
            </a:tbl>
          </a:graphicData>
        </a:graphic>
      </p:graphicFrame>
      <p:sp>
        <p:nvSpPr>
          <p:cNvPr id="3" name="TextBox 2">
            <a:extLst>
              <a:ext uri="{FF2B5EF4-FFF2-40B4-BE49-F238E27FC236}">
                <a16:creationId xmlns:a16="http://schemas.microsoft.com/office/drawing/2014/main" id="{B7F1F106-7325-4D98-A458-9B059DB89121}"/>
              </a:ext>
            </a:extLst>
          </p:cNvPr>
          <p:cNvSpPr txBox="1"/>
          <p:nvPr/>
        </p:nvSpPr>
        <p:spPr>
          <a:xfrm>
            <a:off x="537882" y="3128962"/>
            <a:ext cx="5486400" cy="1508105"/>
          </a:xfrm>
          <a:prstGeom prst="rect">
            <a:avLst/>
          </a:prstGeom>
          <a:noFill/>
        </p:spPr>
        <p:txBody>
          <a:bodyPr wrap="square" rtlCol="0">
            <a:spAutoFit/>
          </a:bodyPr>
          <a:lstStyle/>
          <a:p>
            <a:pPr marL="342900" indent="-342900">
              <a:buFont typeface="Wingdings" panose="05000000000000000000" pitchFamily="2" charset="2"/>
              <a:buChar char="q"/>
            </a:pPr>
            <a:r>
              <a:rPr lang="en-US" sz="2000" u="sng" dirty="0">
                <a:latin typeface="Bahnschrift SemiBold SemiConden" panose="020B0502040204020203" pitchFamily="34" charset="0"/>
              </a:rPr>
              <a:t>Outcome:</a:t>
            </a:r>
          </a:p>
          <a:p>
            <a:r>
              <a:rPr lang="en-US" dirty="0"/>
              <a:t>The expected outcome of  TruthLens-RAG is a working RAG-based intelligent fact-verification system that can analyze a news claim, retrieve relevant evidence, verify the claim, and provide an explainable result</a:t>
            </a:r>
            <a:endParaRPr lang="en-IN" dirty="0"/>
          </a:p>
        </p:txBody>
      </p:sp>
      <p:sp>
        <p:nvSpPr>
          <p:cNvPr id="4" name="TextBox 3">
            <a:extLst>
              <a:ext uri="{FF2B5EF4-FFF2-40B4-BE49-F238E27FC236}">
                <a16:creationId xmlns:a16="http://schemas.microsoft.com/office/drawing/2014/main" id="{C5230404-6E3A-4B5B-8B3F-42B9BD899D17}"/>
              </a:ext>
            </a:extLst>
          </p:cNvPr>
          <p:cNvSpPr txBox="1"/>
          <p:nvPr/>
        </p:nvSpPr>
        <p:spPr>
          <a:xfrm>
            <a:off x="609600" y="1006495"/>
            <a:ext cx="5184121" cy="2031325"/>
          </a:xfrm>
          <a:prstGeom prst="rect">
            <a:avLst/>
          </a:prstGeom>
          <a:noFill/>
        </p:spPr>
        <p:txBody>
          <a:bodyPr wrap="square" rtlCol="0">
            <a:spAutoFit/>
          </a:bodyPr>
          <a:lstStyle/>
          <a:p>
            <a:r>
              <a:rPr lang="en-US" dirty="0"/>
              <a:t>1. Detect potentially false or misleading claims</a:t>
            </a:r>
          </a:p>
          <a:p>
            <a:r>
              <a:rPr lang="en-US" dirty="0"/>
              <a:t>2. Automatically extract factual claims</a:t>
            </a:r>
          </a:p>
          <a:p>
            <a:r>
              <a:rPr lang="en-US" dirty="0"/>
              <a:t>3. Build a trusted knowledge base</a:t>
            </a:r>
            <a:endParaRPr lang="en-IN" dirty="0"/>
          </a:p>
          <a:p>
            <a:r>
              <a:rPr lang="en-US" dirty="0"/>
              <a:t>4. Retrieve relevant evidence using RAG</a:t>
            </a:r>
            <a:endParaRPr lang="en-IN" dirty="0"/>
          </a:p>
          <a:p>
            <a:r>
              <a:rPr lang="en-US" dirty="0"/>
              <a:t>5. Compare claims against retrieved evidence</a:t>
            </a:r>
            <a:endParaRPr lang="en-IN" dirty="0"/>
          </a:p>
          <a:p>
            <a:r>
              <a:rPr lang="en-IN" dirty="0"/>
              <a:t>6. Assess source reliability</a:t>
            </a:r>
          </a:p>
          <a:p>
            <a:endParaRPr lang="en-IN" dirty="0"/>
          </a:p>
        </p:txBody>
      </p:sp>
    </p:spTree>
    <p:extLst>
      <p:ext uri="{BB962C8B-B14F-4D97-AF65-F5344CB8AC3E}">
        <p14:creationId xmlns:p14="http://schemas.microsoft.com/office/powerpoint/2010/main" val="305379200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0D92E313-6E18-4F50-92EF-6815FD6A55BF}"/>
              </a:ext>
            </a:extLst>
          </p:cNvPr>
          <p:cNvSpPr txBox="1"/>
          <p:nvPr/>
        </p:nvSpPr>
        <p:spPr>
          <a:xfrm>
            <a:off x="708209" y="228618"/>
            <a:ext cx="11170024" cy="830997"/>
          </a:xfrm>
          <a:prstGeom prst="rect">
            <a:avLst/>
          </a:prstGeom>
          <a:noFill/>
        </p:spPr>
        <p:txBody>
          <a:bodyPr wrap="square">
            <a:spAutoFit/>
          </a:bodyPr>
          <a:lstStyle/>
          <a:p>
            <a:r>
              <a:rPr lang="en-IN" sz="2400" dirty="0">
                <a:latin typeface="Bahnschrift SemiBold SemiConden" panose="020B0502040204020203" pitchFamily="34" charset="0"/>
              </a:rPr>
              <a:t>                </a:t>
            </a:r>
            <a:r>
              <a:rPr lang="en-IN" sz="2400" dirty="0" err="1">
                <a:latin typeface="Bahnschrift SemiBold SemiConden" panose="020B0502040204020203" pitchFamily="34" charset="0"/>
              </a:rPr>
              <a:t>FraudGuard</a:t>
            </a:r>
            <a:r>
              <a:rPr lang="en-IN" sz="2400" dirty="0">
                <a:latin typeface="Bahnschrift SemiBold SemiConden" panose="020B0502040204020203" pitchFamily="34" charset="0"/>
              </a:rPr>
              <a:t>-Agent: A Multi-Agent Autonomous Framework for </a:t>
            </a:r>
          </a:p>
          <a:p>
            <a:r>
              <a:rPr lang="en-IN" sz="2400" dirty="0">
                <a:latin typeface="Bahnschrift SemiBold SemiConden" panose="020B0502040204020203" pitchFamily="34" charset="0"/>
              </a:rPr>
              <a:t>          Real-Time Financial Fraud Detection, Investigation, and Decision Support</a:t>
            </a:r>
          </a:p>
        </p:txBody>
      </p:sp>
      <p:sp>
        <p:nvSpPr>
          <p:cNvPr id="5" name="TextBox 4">
            <a:extLst>
              <a:ext uri="{FF2B5EF4-FFF2-40B4-BE49-F238E27FC236}">
                <a16:creationId xmlns:a16="http://schemas.microsoft.com/office/drawing/2014/main" id="{E6A996DF-A731-4336-83FF-EB2557D4B70E}"/>
              </a:ext>
            </a:extLst>
          </p:cNvPr>
          <p:cNvSpPr txBox="1"/>
          <p:nvPr/>
        </p:nvSpPr>
        <p:spPr>
          <a:xfrm>
            <a:off x="708210" y="1338677"/>
            <a:ext cx="10963838" cy="2123658"/>
          </a:xfrm>
          <a:prstGeom prst="rect">
            <a:avLst/>
          </a:prstGeom>
          <a:noFill/>
        </p:spPr>
        <p:txBody>
          <a:bodyPr wrap="square">
            <a:spAutoFit/>
          </a:bodyPr>
          <a:lstStyle/>
          <a:p>
            <a:pPr marL="342900" indent="-342900">
              <a:buFont typeface="Wingdings" panose="05000000000000000000" pitchFamily="2" charset="2"/>
              <a:buChar char="q"/>
            </a:pPr>
            <a:r>
              <a:rPr lang="en-US" sz="2000" u="sng" dirty="0">
                <a:latin typeface="Bahnschrift SemiBold SemiConden" panose="020B0502040204020203" pitchFamily="34" charset="0"/>
              </a:rPr>
              <a:t>Problem Statement:</a:t>
            </a:r>
            <a:br>
              <a:rPr lang="en-US" sz="2000" u="sng" dirty="0">
                <a:latin typeface="Agency FB" panose="020B0503020202020204" pitchFamily="34" charset="0"/>
              </a:rPr>
            </a:br>
            <a:endParaRPr lang="en-US" sz="2000" u="sng" dirty="0">
              <a:latin typeface="Agency FB" panose="020B0503020202020204" pitchFamily="34" charset="0"/>
            </a:endParaRPr>
          </a:p>
          <a:p>
            <a:pPr algn="just"/>
            <a:r>
              <a:rPr lang="en-US" dirty="0">
                <a:latin typeface="+mj-lt"/>
              </a:rPr>
              <a:t>The rapid growth of digital payments and online banking has increased the risk of fraudulent financial transactions. Traditional fraud detection systems mainly rely on predefined rules or individual machine-learning models to identify suspicious transactions. Although these approaches can detect certain fraud patterns, they may struggle with new and evolving fraud </a:t>
            </a:r>
            <a:r>
              <a:rPr lang="en-US" dirty="0" err="1">
                <a:latin typeface="+mj-lt"/>
              </a:rPr>
              <a:t>behaviours</a:t>
            </a:r>
            <a:r>
              <a:rPr lang="en-US" dirty="0">
                <a:latin typeface="+mj-lt"/>
              </a:rPr>
              <a:t>, highly imbalanced transaction data, false alarms, and lack of clear explanations.</a:t>
            </a:r>
          </a:p>
          <a:p>
            <a:r>
              <a:rPr lang="en-US" sz="2000" u="sng" dirty="0">
                <a:latin typeface="Agency FB" panose="020B0503020202020204" pitchFamily="34" charset="0"/>
              </a:rPr>
              <a:t>        </a:t>
            </a:r>
            <a:endParaRPr lang="en-US" sz="2000" dirty="0">
              <a:latin typeface="Agency FB" panose="020B0503020202020204" pitchFamily="34" charset="0"/>
            </a:endParaRPr>
          </a:p>
        </p:txBody>
      </p:sp>
      <p:sp>
        <p:nvSpPr>
          <p:cNvPr id="7" name="TextBox 6">
            <a:extLst>
              <a:ext uri="{FF2B5EF4-FFF2-40B4-BE49-F238E27FC236}">
                <a16:creationId xmlns:a16="http://schemas.microsoft.com/office/drawing/2014/main" id="{1DDB45CD-58EF-49C8-AC57-A6A2B608C06C}"/>
              </a:ext>
            </a:extLst>
          </p:cNvPr>
          <p:cNvSpPr txBox="1"/>
          <p:nvPr/>
        </p:nvSpPr>
        <p:spPr>
          <a:xfrm>
            <a:off x="758637" y="3197802"/>
            <a:ext cx="10811433" cy="646331"/>
          </a:xfrm>
          <a:prstGeom prst="rect">
            <a:avLst/>
          </a:prstGeom>
          <a:noFill/>
        </p:spPr>
        <p:txBody>
          <a:bodyPr wrap="square">
            <a:spAutoFit/>
          </a:bodyPr>
          <a:lstStyle/>
          <a:p>
            <a:r>
              <a:rPr lang="en-US" sz="1800" dirty="0" err="1"/>
              <a:t>FraudGuard</a:t>
            </a:r>
            <a:r>
              <a:rPr lang="en-US" sz="1800" dirty="0"/>
              <a:t>-Agent addresses this problem by using a multi-agent Agentic AI architecture in which specialized AI agents collaboratively detect, investigate, </a:t>
            </a:r>
            <a:r>
              <a:rPr lang="en-US" sz="1800" dirty="0" err="1"/>
              <a:t>analyse</a:t>
            </a:r>
            <a:r>
              <a:rPr lang="en-US" sz="1800" dirty="0"/>
              <a:t>, explain, and assess suspicious financial transactions in real time.</a:t>
            </a:r>
          </a:p>
        </p:txBody>
      </p:sp>
      <p:sp>
        <p:nvSpPr>
          <p:cNvPr id="9" name="TextBox 8">
            <a:extLst>
              <a:ext uri="{FF2B5EF4-FFF2-40B4-BE49-F238E27FC236}">
                <a16:creationId xmlns:a16="http://schemas.microsoft.com/office/drawing/2014/main" id="{0FFEABAB-5702-4559-8846-4F6A69198949}"/>
              </a:ext>
            </a:extLst>
          </p:cNvPr>
          <p:cNvSpPr txBox="1"/>
          <p:nvPr/>
        </p:nvSpPr>
        <p:spPr>
          <a:xfrm>
            <a:off x="708209" y="3948027"/>
            <a:ext cx="10963838" cy="1538883"/>
          </a:xfrm>
          <a:prstGeom prst="rect">
            <a:avLst/>
          </a:prstGeom>
          <a:noFill/>
        </p:spPr>
        <p:txBody>
          <a:bodyPr wrap="square">
            <a:spAutoFit/>
          </a:bodyPr>
          <a:lstStyle/>
          <a:p>
            <a:pPr marL="342900" indent="-342900">
              <a:buFont typeface="Wingdings" panose="05000000000000000000" pitchFamily="2" charset="2"/>
              <a:buChar char="q"/>
            </a:pPr>
            <a:r>
              <a:rPr lang="en-IN" sz="2000" u="sng" dirty="0">
                <a:latin typeface="Bahnschrift SemiBold SemiConden" panose="020B0502040204020203" pitchFamily="34" charset="0"/>
              </a:rPr>
              <a:t>Objective:</a:t>
            </a:r>
          </a:p>
          <a:p>
            <a:endParaRPr lang="en-IN" sz="2000" u="sng" dirty="0">
              <a:latin typeface="Bahnschrift SemiBold SemiConden" panose="020B0502040204020203" pitchFamily="34" charset="0"/>
            </a:endParaRPr>
          </a:p>
          <a:p>
            <a:r>
              <a:rPr lang="en-IN" dirty="0"/>
              <a:t>The main objective of this project is to develop an intelligent multi-agent system that can detect suspicious financial transactions and automatically support the complete fraud investigation process, rather than only classifying a transaction as fraudulent or legitimate.</a:t>
            </a:r>
          </a:p>
        </p:txBody>
      </p:sp>
    </p:spTree>
    <p:extLst>
      <p:ext uri="{BB962C8B-B14F-4D97-AF65-F5344CB8AC3E}">
        <p14:creationId xmlns:p14="http://schemas.microsoft.com/office/powerpoint/2010/main" val="177185721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Table 2">
            <a:extLst>
              <a:ext uri="{FF2B5EF4-FFF2-40B4-BE49-F238E27FC236}">
                <a16:creationId xmlns:a16="http://schemas.microsoft.com/office/drawing/2014/main" id="{D8003BFA-8E8F-4212-A584-9A59E442E991}"/>
              </a:ext>
            </a:extLst>
          </p:cNvPr>
          <p:cNvGraphicFramePr>
            <a:graphicFrameLocks noGrp="1"/>
          </p:cNvGraphicFramePr>
          <p:nvPr>
            <p:extLst>
              <p:ext uri="{D42A27DB-BD31-4B8C-83A1-F6EECF244321}">
                <p14:modId xmlns:p14="http://schemas.microsoft.com/office/powerpoint/2010/main" val="1382263483"/>
              </p:ext>
            </p:extLst>
          </p:nvPr>
        </p:nvGraphicFramePr>
        <p:xfrm>
          <a:off x="367554" y="169394"/>
          <a:ext cx="4204446" cy="5594904"/>
        </p:xfrm>
        <a:graphic>
          <a:graphicData uri="http://schemas.openxmlformats.org/drawingml/2006/table">
            <a:tbl>
              <a:tblPr>
                <a:tableStyleId>{3C2FFA5D-87B4-456A-9821-1D502468CF0F}</a:tableStyleId>
              </a:tblPr>
              <a:tblGrid>
                <a:gridCol w="1093693">
                  <a:extLst>
                    <a:ext uri="{9D8B030D-6E8A-4147-A177-3AD203B41FA5}">
                      <a16:colId xmlns:a16="http://schemas.microsoft.com/office/drawing/2014/main" val="932147605"/>
                    </a:ext>
                  </a:extLst>
                </a:gridCol>
                <a:gridCol w="1443318">
                  <a:extLst>
                    <a:ext uri="{9D8B030D-6E8A-4147-A177-3AD203B41FA5}">
                      <a16:colId xmlns:a16="http://schemas.microsoft.com/office/drawing/2014/main" val="3446259661"/>
                    </a:ext>
                  </a:extLst>
                </a:gridCol>
                <a:gridCol w="1667435">
                  <a:extLst>
                    <a:ext uri="{9D8B030D-6E8A-4147-A177-3AD203B41FA5}">
                      <a16:colId xmlns:a16="http://schemas.microsoft.com/office/drawing/2014/main" val="1716606863"/>
                    </a:ext>
                  </a:extLst>
                </a:gridCol>
              </a:tblGrid>
              <a:tr h="207218">
                <a:tc>
                  <a:txBody>
                    <a:bodyPr/>
                    <a:lstStyle/>
                    <a:p>
                      <a:r>
                        <a:rPr lang="en-IN" sz="600"/>
                        <a:t>Layer</a:t>
                      </a:r>
                    </a:p>
                  </a:txBody>
                  <a:tcPr marL="31941" marR="31941" marT="15971" marB="15971" anchor="ctr"/>
                </a:tc>
                <a:tc>
                  <a:txBody>
                    <a:bodyPr/>
                    <a:lstStyle/>
                    <a:p>
                      <a:r>
                        <a:rPr lang="en-IN" sz="600"/>
                        <a:t>Technology</a:t>
                      </a:r>
                    </a:p>
                  </a:txBody>
                  <a:tcPr marL="31941" marR="31941" marT="15971" marB="15971" anchor="ctr"/>
                </a:tc>
                <a:tc>
                  <a:txBody>
                    <a:bodyPr/>
                    <a:lstStyle/>
                    <a:p>
                      <a:r>
                        <a:rPr lang="en-IN" sz="600"/>
                        <a:t>Purpose</a:t>
                      </a:r>
                    </a:p>
                  </a:txBody>
                  <a:tcPr marL="31941" marR="31941" marT="15971" marB="15971" anchor="ctr"/>
                </a:tc>
                <a:extLst>
                  <a:ext uri="{0D108BD9-81ED-4DB2-BD59-A6C34878D82A}">
                    <a16:rowId xmlns:a16="http://schemas.microsoft.com/office/drawing/2014/main" val="3527814726"/>
                  </a:ext>
                </a:extLst>
              </a:tr>
              <a:tr h="207218">
                <a:tc>
                  <a:txBody>
                    <a:bodyPr/>
                    <a:lstStyle/>
                    <a:p>
                      <a:r>
                        <a:rPr lang="en-IN" sz="600" b="1"/>
                        <a:t>Programming</a:t>
                      </a:r>
                      <a:endParaRPr lang="en-IN" sz="600"/>
                    </a:p>
                  </a:txBody>
                  <a:tcPr marL="31941" marR="31941" marT="15971" marB="15971" anchor="ctr"/>
                </a:tc>
                <a:tc>
                  <a:txBody>
                    <a:bodyPr/>
                    <a:lstStyle/>
                    <a:p>
                      <a:r>
                        <a:rPr lang="en-IN" sz="600"/>
                        <a:t>Python</a:t>
                      </a:r>
                    </a:p>
                  </a:txBody>
                  <a:tcPr marL="31941" marR="31941" marT="15971" marB="15971" anchor="ctr"/>
                </a:tc>
                <a:tc>
                  <a:txBody>
                    <a:bodyPr/>
                    <a:lstStyle/>
                    <a:p>
                      <a:r>
                        <a:rPr lang="en-IN" sz="600"/>
                        <a:t>Core development</a:t>
                      </a:r>
                    </a:p>
                  </a:txBody>
                  <a:tcPr marL="31941" marR="31941" marT="15971" marB="15971" anchor="ctr"/>
                </a:tc>
                <a:extLst>
                  <a:ext uri="{0D108BD9-81ED-4DB2-BD59-A6C34878D82A}">
                    <a16:rowId xmlns:a16="http://schemas.microsoft.com/office/drawing/2014/main" val="4221173890"/>
                  </a:ext>
                </a:extLst>
              </a:tr>
              <a:tr h="362633">
                <a:tc>
                  <a:txBody>
                    <a:bodyPr/>
                    <a:lstStyle/>
                    <a:p>
                      <a:r>
                        <a:rPr lang="en-IN" sz="600" b="1"/>
                        <a:t>Data Processing</a:t>
                      </a:r>
                      <a:endParaRPr lang="en-IN" sz="600"/>
                    </a:p>
                  </a:txBody>
                  <a:tcPr marL="31941" marR="31941" marT="15971" marB="15971" anchor="ctr"/>
                </a:tc>
                <a:tc>
                  <a:txBody>
                    <a:bodyPr/>
                    <a:lstStyle/>
                    <a:p>
                      <a:r>
                        <a:rPr lang="en-IN" sz="600"/>
                        <a:t>Pandas, NumPy</a:t>
                      </a:r>
                    </a:p>
                  </a:txBody>
                  <a:tcPr marL="31941" marR="31941" marT="15971" marB="15971" anchor="ctr"/>
                </a:tc>
                <a:tc>
                  <a:txBody>
                    <a:bodyPr/>
                    <a:lstStyle/>
                    <a:p>
                      <a:r>
                        <a:rPr lang="en-IN" sz="600"/>
                        <a:t>Transaction cleaning and preprocessing</a:t>
                      </a:r>
                    </a:p>
                  </a:txBody>
                  <a:tcPr marL="31941" marR="31941" marT="15971" marB="15971" anchor="ctr"/>
                </a:tc>
                <a:extLst>
                  <a:ext uri="{0D108BD9-81ED-4DB2-BD59-A6C34878D82A}">
                    <a16:rowId xmlns:a16="http://schemas.microsoft.com/office/drawing/2014/main" val="370314650"/>
                  </a:ext>
                </a:extLst>
              </a:tr>
              <a:tr h="362633">
                <a:tc>
                  <a:txBody>
                    <a:bodyPr/>
                    <a:lstStyle/>
                    <a:p>
                      <a:r>
                        <a:rPr lang="en-IN" sz="600" b="1"/>
                        <a:t>ML Fraud Detection</a:t>
                      </a:r>
                      <a:endParaRPr lang="en-IN" sz="600"/>
                    </a:p>
                  </a:txBody>
                  <a:tcPr marL="31941" marR="31941" marT="15971" marB="15971" anchor="ctr"/>
                </a:tc>
                <a:tc>
                  <a:txBody>
                    <a:bodyPr/>
                    <a:lstStyle/>
                    <a:p>
                      <a:r>
                        <a:rPr lang="en-IN" sz="600"/>
                        <a:t>XGBoost, Random Forest, Scikit-learn</a:t>
                      </a:r>
                    </a:p>
                  </a:txBody>
                  <a:tcPr marL="31941" marR="31941" marT="15971" marB="15971" anchor="ctr"/>
                </a:tc>
                <a:tc>
                  <a:txBody>
                    <a:bodyPr/>
                    <a:lstStyle/>
                    <a:p>
                      <a:r>
                        <a:rPr lang="en-US" sz="600"/>
                        <a:t>Fraud classification and risk scoring</a:t>
                      </a:r>
                    </a:p>
                  </a:txBody>
                  <a:tcPr marL="31941" marR="31941" marT="15971" marB="15971" anchor="ctr"/>
                </a:tc>
                <a:extLst>
                  <a:ext uri="{0D108BD9-81ED-4DB2-BD59-A6C34878D82A}">
                    <a16:rowId xmlns:a16="http://schemas.microsoft.com/office/drawing/2014/main" val="3806329091"/>
                  </a:ext>
                </a:extLst>
              </a:tr>
              <a:tr h="362633">
                <a:tc>
                  <a:txBody>
                    <a:bodyPr/>
                    <a:lstStyle/>
                    <a:p>
                      <a:r>
                        <a:rPr lang="en-IN" sz="600" b="1"/>
                        <a:t>Imbalanced Learning</a:t>
                      </a:r>
                      <a:endParaRPr lang="en-IN" sz="600"/>
                    </a:p>
                  </a:txBody>
                  <a:tcPr marL="31941" marR="31941" marT="15971" marB="15971" anchor="ctr"/>
                </a:tc>
                <a:tc>
                  <a:txBody>
                    <a:bodyPr/>
                    <a:lstStyle/>
                    <a:p>
                      <a:r>
                        <a:rPr lang="en-IN" sz="600"/>
                        <a:t>SMOTE / class weights</a:t>
                      </a:r>
                    </a:p>
                  </a:txBody>
                  <a:tcPr marL="31941" marR="31941" marT="15971" marB="15971" anchor="ctr"/>
                </a:tc>
                <a:tc>
                  <a:txBody>
                    <a:bodyPr/>
                    <a:lstStyle/>
                    <a:p>
                      <a:r>
                        <a:rPr lang="en-US" sz="600"/>
                        <a:t>Handle highly imbalanced fraud data</a:t>
                      </a:r>
                    </a:p>
                  </a:txBody>
                  <a:tcPr marL="31941" marR="31941" marT="15971" marB="15971" anchor="ctr"/>
                </a:tc>
                <a:extLst>
                  <a:ext uri="{0D108BD9-81ED-4DB2-BD59-A6C34878D82A}">
                    <a16:rowId xmlns:a16="http://schemas.microsoft.com/office/drawing/2014/main" val="1329483203"/>
                  </a:ext>
                </a:extLst>
              </a:tr>
              <a:tr h="362633">
                <a:tc>
                  <a:txBody>
                    <a:bodyPr/>
                    <a:lstStyle/>
                    <a:p>
                      <a:r>
                        <a:rPr lang="en-IN" sz="600" b="1"/>
                        <a:t>Explainable AI</a:t>
                      </a:r>
                      <a:endParaRPr lang="en-IN" sz="600"/>
                    </a:p>
                  </a:txBody>
                  <a:tcPr marL="31941" marR="31941" marT="15971" marB="15971" anchor="ctr"/>
                </a:tc>
                <a:tc>
                  <a:txBody>
                    <a:bodyPr/>
                    <a:lstStyle/>
                    <a:p>
                      <a:r>
                        <a:rPr lang="en-IN" sz="600"/>
                        <a:t>SHAP</a:t>
                      </a:r>
                    </a:p>
                  </a:txBody>
                  <a:tcPr marL="31941" marR="31941" marT="15971" marB="15971" anchor="ctr"/>
                </a:tc>
                <a:tc>
                  <a:txBody>
                    <a:bodyPr/>
                    <a:lstStyle/>
                    <a:p>
                      <a:r>
                        <a:rPr lang="en-US" sz="600"/>
                        <a:t>Explain why a transaction was flagged</a:t>
                      </a:r>
                    </a:p>
                  </a:txBody>
                  <a:tcPr marL="31941" marR="31941" marT="15971" marB="15971" anchor="ctr"/>
                </a:tc>
                <a:extLst>
                  <a:ext uri="{0D108BD9-81ED-4DB2-BD59-A6C34878D82A}">
                    <a16:rowId xmlns:a16="http://schemas.microsoft.com/office/drawing/2014/main" val="404189930"/>
                  </a:ext>
                </a:extLst>
              </a:tr>
              <a:tr h="362633">
                <a:tc>
                  <a:txBody>
                    <a:bodyPr/>
                    <a:lstStyle/>
                    <a:p>
                      <a:r>
                        <a:rPr lang="en-IN" sz="600" b="1" dirty="0"/>
                        <a:t>Agent Framework</a:t>
                      </a:r>
                      <a:endParaRPr lang="en-IN" sz="600" dirty="0"/>
                    </a:p>
                  </a:txBody>
                  <a:tcPr marL="31941" marR="31941" marT="15971" marB="15971" anchor="ctr"/>
                </a:tc>
                <a:tc>
                  <a:txBody>
                    <a:bodyPr/>
                    <a:lstStyle/>
                    <a:p>
                      <a:r>
                        <a:rPr lang="en-IN" sz="600"/>
                        <a:t>LangGraph</a:t>
                      </a:r>
                    </a:p>
                  </a:txBody>
                  <a:tcPr marL="31941" marR="31941" marT="15971" marB="15971" anchor="ctr"/>
                </a:tc>
                <a:tc>
                  <a:txBody>
                    <a:bodyPr/>
                    <a:lstStyle/>
                    <a:p>
                      <a:r>
                        <a:rPr lang="en-US" sz="600"/>
                        <a:t>Build and orchestrate multiple AI agents</a:t>
                      </a:r>
                    </a:p>
                  </a:txBody>
                  <a:tcPr marL="31941" marR="31941" marT="15971" marB="15971" anchor="ctr"/>
                </a:tc>
                <a:extLst>
                  <a:ext uri="{0D108BD9-81ED-4DB2-BD59-A6C34878D82A}">
                    <a16:rowId xmlns:a16="http://schemas.microsoft.com/office/drawing/2014/main" val="1020270650"/>
                  </a:ext>
                </a:extLst>
              </a:tr>
              <a:tr h="362633">
                <a:tc>
                  <a:txBody>
                    <a:bodyPr/>
                    <a:lstStyle/>
                    <a:p>
                      <a:r>
                        <a:rPr lang="en-IN" sz="600" b="1"/>
                        <a:t>LLM</a:t>
                      </a:r>
                      <a:endParaRPr lang="en-IN" sz="600"/>
                    </a:p>
                  </a:txBody>
                  <a:tcPr marL="31941" marR="31941" marT="15971" marB="15971" anchor="ctr"/>
                </a:tc>
                <a:tc>
                  <a:txBody>
                    <a:bodyPr/>
                    <a:lstStyle/>
                    <a:p>
                      <a:r>
                        <a:rPr lang="es-ES" sz="600"/>
                        <a:t>GPT / Llama / other suitable LLM</a:t>
                      </a:r>
                    </a:p>
                  </a:txBody>
                  <a:tcPr marL="31941" marR="31941" marT="15971" marB="15971" anchor="ctr"/>
                </a:tc>
                <a:tc>
                  <a:txBody>
                    <a:bodyPr/>
                    <a:lstStyle/>
                    <a:p>
                      <a:r>
                        <a:rPr lang="en-US" sz="600"/>
                        <a:t>Reasoning, investigation and report generation</a:t>
                      </a:r>
                    </a:p>
                  </a:txBody>
                  <a:tcPr marL="31941" marR="31941" marT="15971" marB="15971" anchor="ctr"/>
                </a:tc>
                <a:extLst>
                  <a:ext uri="{0D108BD9-81ED-4DB2-BD59-A6C34878D82A}">
                    <a16:rowId xmlns:a16="http://schemas.microsoft.com/office/drawing/2014/main" val="2845462184"/>
                  </a:ext>
                </a:extLst>
              </a:tr>
              <a:tr h="362633">
                <a:tc>
                  <a:txBody>
                    <a:bodyPr/>
                    <a:lstStyle/>
                    <a:p>
                      <a:r>
                        <a:rPr lang="en-IN" sz="600" b="1"/>
                        <a:t>RAG</a:t>
                      </a:r>
                      <a:endParaRPr lang="en-IN" sz="600"/>
                    </a:p>
                  </a:txBody>
                  <a:tcPr marL="31941" marR="31941" marT="15971" marB="15971" anchor="ctr"/>
                </a:tc>
                <a:tc>
                  <a:txBody>
                    <a:bodyPr/>
                    <a:lstStyle/>
                    <a:p>
                      <a:r>
                        <a:rPr lang="en-IN" sz="600"/>
                        <a:t>LangChain / LlamaIndex</a:t>
                      </a:r>
                    </a:p>
                  </a:txBody>
                  <a:tcPr marL="31941" marR="31941" marT="15971" marB="15971" anchor="ctr"/>
                </a:tc>
                <a:tc>
                  <a:txBody>
                    <a:bodyPr/>
                    <a:lstStyle/>
                    <a:p>
                      <a:r>
                        <a:rPr lang="en-IN" sz="600"/>
                        <a:t>Retrieve relevant fraud knowledge</a:t>
                      </a:r>
                    </a:p>
                  </a:txBody>
                  <a:tcPr marL="31941" marR="31941" marT="15971" marB="15971" anchor="ctr"/>
                </a:tc>
                <a:extLst>
                  <a:ext uri="{0D108BD9-81ED-4DB2-BD59-A6C34878D82A}">
                    <a16:rowId xmlns:a16="http://schemas.microsoft.com/office/drawing/2014/main" val="3945509071"/>
                  </a:ext>
                </a:extLst>
              </a:tr>
              <a:tr h="362633">
                <a:tc>
                  <a:txBody>
                    <a:bodyPr/>
                    <a:lstStyle/>
                    <a:p>
                      <a:r>
                        <a:rPr lang="en-IN" sz="600" b="1"/>
                        <a:t>Embeddings</a:t>
                      </a:r>
                      <a:endParaRPr lang="en-IN" sz="600"/>
                    </a:p>
                  </a:txBody>
                  <a:tcPr marL="31941" marR="31941" marT="15971" marB="15971" anchor="ctr"/>
                </a:tc>
                <a:tc>
                  <a:txBody>
                    <a:bodyPr/>
                    <a:lstStyle/>
                    <a:p>
                      <a:r>
                        <a:rPr lang="en-IN" sz="600"/>
                        <a:t>Sentence Transformers</a:t>
                      </a:r>
                    </a:p>
                  </a:txBody>
                  <a:tcPr marL="31941" marR="31941" marT="15971" marB="15971" anchor="ctr"/>
                </a:tc>
                <a:tc>
                  <a:txBody>
                    <a:bodyPr/>
                    <a:lstStyle/>
                    <a:p>
                      <a:r>
                        <a:rPr lang="en-IN" sz="600"/>
                        <a:t>Convert fraud documents into vectors</a:t>
                      </a:r>
                    </a:p>
                  </a:txBody>
                  <a:tcPr marL="31941" marR="31941" marT="15971" marB="15971" anchor="ctr"/>
                </a:tc>
                <a:extLst>
                  <a:ext uri="{0D108BD9-81ED-4DB2-BD59-A6C34878D82A}">
                    <a16:rowId xmlns:a16="http://schemas.microsoft.com/office/drawing/2014/main" val="575613584"/>
                  </a:ext>
                </a:extLst>
              </a:tr>
              <a:tr h="362633">
                <a:tc>
                  <a:txBody>
                    <a:bodyPr/>
                    <a:lstStyle/>
                    <a:p>
                      <a:r>
                        <a:rPr lang="en-IN" sz="600" b="1"/>
                        <a:t>Vector Database</a:t>
                      </a:r>
                      <a:endParaRPr lang="en-IN" sz="600"/>
                    </a:p>
                  </a:txBody>
                  <a:tcPr marL="31941" marR="31941" marT="15971" marB="15971" anchor="ctr"/>
                </a:tc>
                <a:tc>
                  <a:txBody>
                    <a:bodyPr/>
                    <a:lstStyle/>
                    <a:p>
                      <a:r>
                        <a:rPr lang="en-IN" sz="600"/>
                        <a:t>FAISS / Chroma / Qdrant</a:t>
                      </a:r>
                    </a:p>
                  </a:txBody>
                  <a:tcPr marL="31941" marR="31941" marT="15971" marB="15971" anchor="ctr"/>
                </a:tc>
                <a:tc>
                  <a:txBody>
                    <a:bodyPr/>
                    <a:lstStyle/>
                    <a:p>
                      <a:r>
                        <a:rPr lang="en-US" sz="600"/>
                        <a:t>Store and retrieve fraud knowledge</a:t>
                      </a:r>
                    </a:p>
                  </a:txBody>
                  <a:tcPr marL="31941" marR="31941" marT="15971" marB="15971" anchor="ctr"/>
                </a:tc>
                <a:extLst>
                  <a:ext uri="{0D108BD9-81ED-4DB2-BD59-A6C34878D82A}">
                    <a16:rowId xmlns:a16="http://schemas.microsoft.com/office/drawing/2014/main" val="2612605232"/>
                  </a:ext>
                </a:extLst>
              </a:tr>
              <a:tr h="362633">
                <a:tc>
                  <a:txBody>
                    <a:bodyPr/>
                    <a:lstStyle/>
                    <a:p>
                      <a:r>
                        <a:rPr lang="en-IN" sz="600" b="1"/>
                        <a:t>Database</a:t>
                      </a:r>
                      <a:endParaRPr lang="en-IN" sz="600"/>
                    </a:p>
                  </a:txBody>
                  <a:tcPr marL="31941" marR="31941" marT="15971" marB="15971" anchor="ctr"/>
                </a:tc>
                <a:tc>
                  <a:txBody>
                    <a:bodyPr/>
                    <a:lstStyle/>
                    <a:p>
                      <a:r>
                        <a:rPr lang="en-IN" sz="600"/>
                        <a:t>PostgreSQL</a:t>
                      </a:r>
                    </a:p>
                  </a:txBody>
                  <a:tcPr marL="31941" marR="31941" marT="15971" marB="15971" anchor="ctr"/>
                </a:tc>
                <a:tc>
                  <a:txBody>
                    <a:bodyPr/>
                    <a:lstStyle/>
                    <a:p>
                      <a:r>
                        <a:rPr lang="en-US" sz="600"/>
                        <a:t>Store transactions, users and investigation results</a:t>
                      </a:r>
                    </a:p>
                  </a:txBody>
                  <a:tcPr marL="31941" marR="31941" marT="15971" marB="15971" anchor="ctr"/>
                </a:tc>
                <a:extLst>
                  <a:ext uri="{0D108BD9-81ED-4DB2-BD59-A6C34878D82A}">
                    <a16:rowId xmlns:a16="http://schemas.microsoft.com/office/drawing/2014/main" val="4170020507"/>
                  </a:ext>
                </a:extLst>
              </a:tr>
              <a:tr h="362633">
                <a:tc>
                  <a:txBody>
                    <a:bodyPr/>
                    <a:lstStyle/>
                    <a:p>
                      <a:r>
                        <a:rPr lang="en-IN" sz="600" b="1"/>
                        <a:t>API / Backend</a:t>
                      </a:r>
                      <a:endParaRPr lang="en-IN" sz="600"/>
                    </a:p>
                  </a:txBody>
                  <a:tcPr marL="31941" marR="31941" marT="15971" marB="15971" anchor="ctr"/>
                </a:tc>
                <a:tc>
                  <a:txBody>
                    <a:bodyPr/>
                    <a:lstStyle/>
                    <a:p>
                      <a:r>
                        <a:rPr lang="en-IN" sz="600"/>
                        <a:t>FastAPI</a:t>
                      </a:r>
                    </a:p>
                  </a:txBody>
                  <a:tcPr marL="31941" marR="31941" marT="15971" marB="15971" anchor="ctr"/>
                </a:tc>
                <a:tc>
                  <a:txBody>
                    <a:bodyPr/>
                    <a:lstStyle/>
                    <a:p>
                      <a:r>
                        <a:rPr lang="en-US" sz="600"/>
                        <a:t>Connect AI agents with the application</a:t>
                      </a:r>
                    </a:p>
                  </a:txBody>
                  <a:tcPr marL="31941" marR="31941" marT="15971" marB="15971" anchor="ctr"/>
                </a:tc>
                <a:extLst>
                  <a:ext uri="{0D108BD9-81ED-4DB2-BD59-A6C34878D82A}">
                    <a16:rowId xmlns:a16="http://schemas.microsoft.com/office/drawing/2014/main" val="840023578"/>
                  </a:ext>
                </a:extLst>
              </a:tr>
              <a:tr h="207218">
                <a:tc>
                  <a:txBody>
                    <a:bodyPr/>
                    <a:lstStyle/>
                    <a:p>
                      <a:r>
                        <a:rPr lang="en-IN" sz="600" b="1"/>
                        <a:t>Frontend</a:t>
                      </a:r>
                      <a:endParaRPr lang="en-IN" sz="600"/>
                    </a:p>
                  </a:txBody>
                  <a:tcPr marL="31941" marR="31941" marT="15971" marB="15971" anchor="ctr"/>
                </a:tc>
                <a:tc>
                  <a:txBody>
                    <a:bodyPr/>
                    <a:lstStyle/>
                    <a:p>
                      <a:r>
                        <a:rPr lang="en-IN" sz="600"/>
                        <a:t>React / Streamlit</a:t>
                      </a:r>
                    </a:p>
                  </a:txBody>
                  <a:tcPr marL="31941" marR="31941" marT="15971" marB="15971" anchor="ctr"/>
                </a:tc>
                <a:tc>
                  <a:txBody>
                    <a:bodyPr/>
                    <a:lstStyle/>
                    <a:p>
                      <a:r>
                        <a:rPr lang="en-IN" sz="600"/>
                        <a:t>Fraud monitoring dashboard</a:t>
                      </a:r>
                    </a:p>
                  </a:txBody>
                  <a:tcPr marL="31941" marR="31941" marT="15971" marB="15971" anchor="ctr"/>
                </a:tc>
                <a:extLst>
                  <a:ext uri="{0D108BD9-81ED-4DB2-BD59-A6C34878D82A}">
                    <a16:rowId xmlns:a16="http://schemas.microsoft.com/office/drawing/2014/main" val="4138691420"/>
                  </a:ext>
                </a:extLst>
              </a:tr>
              <a:tr h="362633">
                <a:tc>
                  <a:txBody>
                    <a:bodyPr/>
                    <a:lstStyle/>
                    <a:p>
                      <a:r>
                        <a:rPr lang="en-IN" sz="600" b="1"/>
                        <a:t>Visualization</a:t>
                      </a:r>
                      <a:endParaRPr lang="en-IN" sz="600"/>
                    </a:p>
                  </a:txBody>
                  <a:tcPr marL="31941" marR="31941" marT="15971" marB="15971" anchor="ctr"/>
                </a:tc>
                <a:tc>
                  <a:txBody>
                    <a:bodyPr/>
                    <a:lstStyle/>
                    <a:p>
                      <a:r>
                        <a:rPr lang="en-IN" sz="600"/>
                        <a:t>Plotly</a:t>
                      </a:r>
                    </a:p>
                  </a:txBody>
                  <a:tcPr marL="31941" marR="31941" marT="15971" marB="15971" anchor="ctr"/>
                </a:tc>
                <a:tc>
                  <a:txBody>
                    <a:bodyPr/>
                    <a:lstStyle/>
                    <a:p>
                      <a:r>
                        <a:rPr lang="en-US" sz="600"/>
                        <a:t>Risk charts and transaction analysis</a:t>
                      </a:r>
                    </a:p>
                  </a:txBody>
                  <a:tcPr marL="31941" marR="31941" marT="15971" marB="15971" anchor="ctr"/>
                </a:tc>
                <a:extLst>
                  <a:ext uri="{0D108BD9-81ED-4DB2-BD59-A6C34878D82A}">
                    <a16:rowId xmlns:a16="http://schemas.microsoft.com/office/drawing/2014/main" val="378211925"/>
                  </a:ext>
                </a:extLst>
              </a:tr>
              <a:tr h="207218">
                <a:tc>
                  <a:txBody>
                    <a:bodyPr/>
                    <a:lstStyle/>
                    <a:p>
                      <a:r>
                        <a:rPr lang="en-IN" sz="600" b="1"/>
                        <a:t>Report Generation</a:t>
                      </a:r>
                      <a:endParaRPr lang="en-IN" sz="600"/>
                    </a:p>
                  </a:txBody>
                  <a:tcPr marL="31941" marR="31941" marT="15971" marB="15971" anchor="ctr"/>
                </a:tc>
                <a:tc>
                  <a:txBody>
                    <a:bodyPr/>
                    <a:lstStyle/>
                    <a:p>
                      <a:r>
                        <a:rPr lang="en-IN" sz="600"/>
                        <a:t>ReportLab</a:t>
                      </a:r>
                    </a:p>
                  </a:txBody>
                  <a:tcPr marL="31941" marR="31941" marT="15971" marB="15971" anchor="ctr"/>
                </a:tc>
                <a:tc>
                  <a:txBody>
                    <a:bodyPr/>
                    <a:lstStyle/>
                    <a:p>
                      <a:r>
                        <a:rPr lang="en-IN" sz="600"/>
                        <a:t>Generate investigation reports</a:t>
                      </a:r>
                    </a:p>
                  </a:txBody>
                  <a:tcPr marL="31941" marR="31941" marT="15971" marB="15971" anchor="ctr"/>
                </a:tc>
                <a:extLst>
                  <a:ext uri="{0D108BD9-81ED-4DB2-BD59-A6C34878D82A}">
                    <a16:rowId xmlns:a16="http://schemas.microsoft.com/office/drawing/2014/main" val="2513448161"/>
                  </a:ext>
                </a:extLst>
              </a:tr>
              <a:tr h="207218">
                <a:tc>
                  <a:txBody>
                    <a:bodyPr/>
                    <a:lstStyle/>
                    <a:p>
                      <a:r>
                        <a:rPr lang="en-IN" sz="600" b="1"/>
                        <a:t>Deployment</a:t>
                      </a:r>
                      <a:endParaRPr lang="en-IN" sz="600"/>
                    </a:p>
                  </a:txBody>
                  <a:tcPr marL="31941" marR="31941" marT="15971" marB="15971" anchor="ctr"/>
                </a:tc>
                <a:tc>
                  <a:txBody>
                    <a:bodyPr/>
                    <a:lstStyle/>
                    <a:p>
                      <a:r>
                        <a:rPr lang="en-IN" sz="600"/>
                        <a:t>Docker</a:t>
                      </a:r>
                    </a:p>
                  </a:txBody>
                  <a:tcPr marL="31941" marR="31941" marT="15971" marB="15971" anchor="ctr"/>
                </a:tc>
                <a:tc>
                  <a:txBody>
                    <a:bodyPr/>
                    <a:lstStyle/>
                    <a:p>
                      <a:r>
                        <a:rPr lang="en-US" sz="600"/>
                        <a:t>Package and deploy the system</a:t>
                      </a:r>
                    </a:p>
                  </a:txBody>
                  <a:tcPr marL="31941" marR="31941" marT="15971" marB="15971" anchor="ctr"/>
                </a:tc>
                <a:extLst>
                  <a:ext uri="{0D108BD9-81ED-4DB2-BD59-A6C34878D82A}">
                    <a16:rowId xmlns:a16="http://schemas.microsoft.com/office/drawing/2014/main" val="3328279295"/>
                  </a:ext>
                </a:extLst>
              </a:tr>
              <a:tr h="207218">
                <a:tc>
                  <a:txBody>
                    <a:bodyPr/>
                    <a:lstStyle/>
                    <a:p>
                      <a:r>
                        <a:rPr lang="en-IN" sz="600" b="1"/>
                        <a:t>Version Control</a:t>
                      </a:r>
                      <a:endParaRPr lang="en-IN" sz="600"/>
                    </a:p>
                  </a:txBody>
                  <a:tcPr marL="31941" marR="31941" marT="15971" marB="15971" anchor="ctr"/>
                </a:tc>
                <a:tc>
                  <a:txBody>
                    <a:bodyPr/>
                    <a:lstStyle/>
                    <a:p>
                      <a:r>
                        <a:rPr lang="en-IN" sz="600"/>
                        <a:t>Git + GitHub</a:t>
                      </a:r>
                    </a:p>
                  </a:txBody>
                  <a:tcPr marL="31941" marR="31941" marT="15971" marB="15971" anchor="ctr"/>
                </a:tc>
                <a:tc>
                  <a:txBody>
                    <a:bodyPr/>
                    <a:lstStyle/>
                    <a:p>
                      <a:r>
                        <a:rPr lang="en-IN" sz="600" dirty="0"/>
                        <a:t>Source-code management</a:t>
                      </a:r>
                    </a:p>
                  </a:txBody>
                  <a:tcPr marL="31941" marR="31941" marT="15971" marB="15971" anchor="ctr"/>
                </a:tc>
                <a:extLst>
                  <a:ext uri="{0D108BD9-81ED-4DB2-BD59-A6C34878D82A}">
                    <a16:rowId xmlns:a16="http://schemas.microsoft.com/office/drawing/2014/main" val="1920568670"/>
                  </a:ext>
                </a:extLst>
              </a:tr>
            </a:tbl>
          </a:graphicData>
        </a:graphic>
      </p:graphicFrame>
      <p:sp>
        <p:nvSpPr>
          <p:cNvPr id="5" name="TextBox 4">
            <a:extLst>
              <a:ext uri="{FF2B5EF4-FFF2-40B4-BE49-F238E27FC236}">
                <a16:creationId xmlns:a16="http://schemas.microsoft.com/office/drawing/2014/main" id="{207074B8-74D0-4B8A-9649-2B1DD23A66DA}"/>
              </a:ext>
            </a:extLst>
          </p:cNvPr>
          <p:cNvSpPr txBox="1"/>
          <p:nvPr/>
        </p:nvSpPr>
        <p:spPr>
          <a:xfrm>
            <a:off x="5381064" y="362180"/>
            <a:ext cx="6100482" cy="1754326"/>
          </a:xfrm>
          <a:prstGeom prst="rect">
            <a:avLst/>
          </a:prstGeom>
          <a:noFill/>
        </p:spPr>
        <p:txBody>
          <a:bodyPr wrap="square">
            <a:spAutoFit/>
          </a:bodyPr>
          <a:lstStyle/>
          <a:p>
            <a:r>
              <a:rPr lang="en-IN" dirty="0"/>
              <a:t>1.Detect fraudulent transactions in real time</a:t>
            </a:r>
          </a:p>
          <a:p>
            <a:r>
              <a:rPr lang="en-US" dirty="0"/>
              <a:t>2. Handle highly imbalanced financial data</a:t>
            </a:r>
            <a:endParaRPr lang="en-IN" dirty="0"/>
          </a:p>
          <a:p>
            <a:r>
              <a:rPr lang="en-IN" dirty="0"/>
              <a:t>3. Analyse customer behaviour</a:t>
            </a:r>
          </a:p>
          <a:p>
            <a:r>
              <a:rPr lang="en-US" dirty="0"/>
              <a:t>4. Automatically investigate suspicious transactions</a:t>
            </a:r>
            <a:endParaRPr lang="en-IN" dirty="0"/>
          </a:p>
          <a:p>
            <a:r>
              <a:rPr lang="en-US" dirty="0"/>
              <a:t>5. Use RAG to retrieve relevant fraud knowledge</a:t>
            </a:r>
            <a:endParaRPr lang="en-IN" dirty="0"/>
          </a:p>
          <a:p>
            <a:r>
              <a:rPr lang="en-IN" dirty="0"/>
              <a:t>6. Perform intelligent risk assessment</a:t>
            </a:r>
          </a:p>
        </p:txBody>
      </p:sp>
      <p:sp>
        <p:nvSpPr>
          <p:cNvPr id="7" name="TextBox 6">
            <a:extLst>
              <a:ext uri="{FF2B5EF4-FFF2-40B4-BE49-F238E27FC236}">
                <a16:creationId xmlns:a16="http://schemas.microsoft.com/office/drawing/2014/main" id="{F72F3AC3-D514-4576-84B1-C45D5DE3F27E}"/>
              </a:ext>
            </a:extLst>
          </p:cNvPr>
          <p:cNvSpPr txBox="1"/>
          <p:nvPr/>
        </p:nvSpPr>
        <p:spPr>
          <a:xfrm>
            <a:off x="5298140" y="2289738"/>
            <a:ext cx="5638800" cy="677108"/>
          </a:xfrm>
          <a:prstGeom prst="rect">
            <a:avLst/>
          </a:prstGeom>
          <a:noFill/>
        </p:spPr>
        <p:txBody>
          <a:bodyPr wrap="square">
            <a:spAutoFit/>
          </a:bodyPr>
          <a:lstStyle/>
          <a:p>
            <a:pPr marL="342900" indent="-342900">
              <a:buFont typeface="Wingdings" panose="05000000000000000000" pitchFamily="2" charset="2"/>
              <a:buChar char="q"/>
            </a:pPr>
            <a:r>
              <a:rPr lang="en-IN" sz="2000" u="sng" dirty="0">
                <a:latin typeface="Bahnschrift SemiBold SemiConden" panose="020B0502040204020203" pitchFamily="34" charset="0"/>
              </a:rPr>
              <a:t>Dataset: </a:t>
            </a:r>
          </a:p>
          <a:p>
            <a:r>
              <a:rPr lang="en-IN" dirty="0"/>
              <a:t>https://www.kaggle.com/datasets/mlg-ulb/creditcardfraud</a:t>
            </a:r>
          </a:p>
        </p:txBody>
      </p:sp>
      <p:sp>
        <p:nvSpPr>
          <p:cNvPr id="9" name="TextBox 8">
            <a:extLst>
              <a:ext uri="{FF2B5EF4-FFF2-40B4-BE49-F238E27FC236}">
                <a16:creationId xmlns:a16="http://schemas.microsoft.com/office/drawing/2014/main" id="{8D89C2DB-1461-4D6C-B3C2-50E48AC6211C}"/>
              </a:ext>
            </a:extLst>
          </p:cNvPr>
          <p:cNvSpPr txBox="1"/>
          <p:nvPr/>
        </p:nvSpPr>
        <p:spPr>
          <a:xfrm>
            <a:off x="5298140" y="3122148"/>
            <a:ext cx="6100482" cy="2339102"/>
          </a:xfrm>
          <a:prstGeom prst="rect">
            <a:avLst/>
          </a:prstGeom>
          <a:noFill/>
        </p:spPr>
        <p:txBody>
          <a:bodyPr wrap="square">
            <a:spAutoFit/>
          </a:bodyPr>
          <a:lstStyle/>
          <a:p>
            <a:pPr marL="342900" indent="-342900">
              <a:buFont typeface="Wingdings" panose="05000000000000000000" pitchFamily="2" charset="2"/>
              <a:buChar char="q"/>
            </a:pPr>
            <a:r>
              <a:rPr lang="en-IN" sz="2000" b="1" u="sng" dirty="0">
                <a:latin typeface="Bahnschrift SemiBold SemiConden" panose="020B0502040204020203" pitchFamily="34" charset="0"/>
              </a:rPr>
              <a:t>Outcome: </a:t>
            </a:r>
          </a:p>
          <a:p>
            <a:pPr algn="just"/>
            <a:r>
              <a:rPr lang="en-IN" dirty="0"/>
              <a:t>It is a real-time, explainable, multi-agent fraud investigation system capable of detecting suspicious transactions, analysing behavioural anomalies, retrieving supporting evidence through RAG, assessing risk, generating human-understandable explanations, and providing actionable recommendations through an interactive dashboard and automated investigation report.</a:t>
            </a:r>
          </a:p>
        </p:txBody>
      </p:sp>
    </p:spTree>
    <p:extLst>
      <p:ext uri="{BB962C8B-B14F-4D97-AF65-F5344CB8AC3E}">
        <p14:creationId xmlns:p14="http://schemas.microsoft.com/office/powerpoint/2010/main" val="1539276229"/>
      </p:ext>
    </p:extLst>
  </p:cSld>
  <p:clrMapOvr>
    <a:masterClrMapping/>
  </p:clrMapOvr>
</p:sld>
</file>

<file path=ppt/theme/theme1.xml><?xml version="1.0" encoding="utf-8"?>
<a:theme xmlns:a="http://schemas.openxmlformats.org/drawingml/2006/main" name="Gallery">
  <a:themeElements>
    <a:clrScheme name="Gallery">
      <a:dk1>
        <a:sysClr val="windowText" lastClr="000000"/>
      </a:dk1>
      <a:lt1>
        <a:sysClr val="window" lastClr="FFFFFF"/>
      </a:lt1>
      <a:dk2>
        <a:srgbClr val="454545"/>
      </a:dk2>
      <a:lt2>
        <a:srgbClr val="DFDBD5"/>
      </a:lt2>
      <a:accent1>
        <a:srgbClr val="B71E42"/>
      </a:accent1>
      <a:accent2>
        <a:srgbClr val="DE478E"/>
      </a:accent2>
      <a:accent3>
        <a:srgbClr val="BC72F0"/>
      </a:accent3>
      <a:accent4>
        <a:srgbClr val="795FAF"/>
      </a:accent4>
      <a:accent5>
        <a:srgbClr val="586EA6"/>
      </a:accent5>
      <a:accent6>
        <a:srgbClr val="6892A0"/>
      </a:accent6>
      <a:hlink>
        <a:srgbClr val="FA2B5C"/>
      </a:hlink>
      <a:folHlink>
        <a:srgbClr val="BC658E"/>
      </a:folHlink>
    </a:clrScheme>
    <a:fontScheme name="Gallery">
      <a:majorFont>
        <a:latin typeface="Gill Sans MT" panose="020B0502020104020203"/>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Gill Sans MT" panose="020B0502020104020203"/>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Gallery">
      <a:fillStyleLst>
        <a:solidFill>
          <a:schemeClr val="phClr"/>
        </a:solidFill>
        <a:gradFill rotWithShape="1">
          <a:gsLst>
            <a:gs pos="0">
              <a:schemeClr val="phClr">
                <a:tint val="54000"/>
                <a:alpha val="100000"/>
                <a:satMod val="105000"/>
                <a:lumMod val="110000"/>
              </a:schemeClr>
            </a:gs>
            <a:gs pos="100000">
              <a:schemeClr val="phClr">
                <a:tint val="78000"/>
                <a:alpha val="92000"/>
                <a:satMod val="109000"/>
                <a:lumMod val="100000"/>
              </a:schemeClr>
            </a:gs>
          </a:gsLst>
          <a:lin ang="5400000" scaled="0"/>
        </a:gradFill>
        <a:gradFill rotWithShape="1">
          <a:gsLst>
            <a:gs pos="0">
              <a:schemeClr val="phClr">
                <a:tint val="98000"/>
                <a:satMod val="110000"/>
                <a:lumMod val="104000"/>
              </a:schemeClr>
            </a:gs>
            <a:gs pos="69000">
              <a:schemeClr val="phClr">
                <a:shade val="88000"/>
                <a:satMod val="130000"/>
                <a:lumMod val="92000"/>
              </a:schemeClr>
            </a:gs>
            <a:gs pos="100000">
              <a:schemeClr val="phClr">
                <a:shade val="78000"/>
                <a:satMod val="130000"/>
                <a:lumMod val="92000"/>
              </a:schemeClr>
            </a:gs>
          </a:gsLst>
          <a:lin ang="5400000" scaled="0"/>
        </a:gradFill>
      </a:fillStyleLst>
      <a:lnStyleLst>
        <a:ln w="9525" cap="flat" cmpd="sng" algn="ctr">
          <a:solidFill>
            <a:schemeClr val="ph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effectStyle>
        <a:effectStyle>
          <a:effectLst>
            <a:outerShdw blurRad="50800" dist="50800" dir="5400000" sx="96000" sy="96000" rotWithShape="0">
              <a:srgbClr val="000000">
                <a:alpha val="48000"/>
              </a:srgbClr>
            </a:outerShdw>
          </a:effectLst>
          <a:scene3d>
            <a:camera prst="orthographicFront">
              <a:rot lat="0" lon="0" rev="0"/>
            </a:camera>
            <a:lightRig rig="balanced" dir="t">
              <a:rot lat="0" lon="0" rev="1080000"/>
            </a:lightRig>
          </a:scene3d>
          <a:sp3d>
            <a:bevelT w="38100" h="12700" prst="softRound"/>
          </a:sp3d>
        </a:effectStyle>
      </a:effectStyleLst>
      <a:bgFillStyleLst>
        <a:solidFill>
          <a:schemeClr val="phClr"/>
        </a:solidFill>
        <a:solidFill>
          <a:schemeClr val="phClr"/>
        </a:solidFill>
        <a:gradFill rotWithShape="1">
          <a:gsLst>
            <a:gs pos="0">
              <a:schemeClr val="phClr">
                <a:tint val="94000"/>
                <a:satMod val="80000"/>
                <a:lumMod val="106000"/>
              </a:schemeClr>
            </a:gs>
            <a:gs pos="100000">
              <a:schemeClr val="phClr">
                <a:shade val="80000"/>
              </a:schemeClr>
            </a:gs>
          </a:gsLst>
          <a:path path="circle">
            <a:fillToRect l="43000" r="43000" b="100000"/>
          </a:path>
        </a:gradFill>
      </a:bgFillStyleLst>
    </a:fmtScheme>
  </a:themeElements>
  <a:objectDefaults/>
  <a:extraClrSchemeLst/>
  <a:extLst>
    <a:ext uri="{05A4C25C-085E-4340-85A3-A5531E510DB2}">
      <thm15:themeFamily xmlns:thm15="http://schemas.microsoft.com/office/thememl/2012/main" name="Gallery" id="{BBFCD31E-59A1-489D-B089-A3EAD7CAE12E}" vid="{F5E91637-A7B6-4E27-B710-77DA7014EE1E}"/>
    </a:ext>
  </a:extLst>
</a:theme>
</file>

<file path=docProps/app.xml><?xml version="1.0" encoding="utf-8"?>
<Properties xmlns="http://schemas.openxmlformats.org/officeDocument/2006/extended-properties" xmlns:vt="http://schemas.openxmlformats.org/officeDocument/2006/docPropsVTypes">
  <Template>Gallery</Template>
  <TotalTime>87</TotalTime>
  <Words>801</Words>
  <Application>Microsoft Office PowerPoint</Application>
  <PresentationFormat>Widescreen</PresentationFormat>
  <Paragraphs>136</Paragraphs>
  <Slides>4</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4</vt:i4>
      </vt:variant>
    </vt:vector>
  </HeadingPairs>
  <TitlesOfParts>
    <vt:vector size="11" baseType="lpstr">
      <vt:lpstr>Agency FB</vt:lpstr>
      <vt:lpstr>Arial</vt:lpstr>
      <vt:lpstr>Arial Narrow</vt:lpstr>
      <vt:lpstr>Bahnschrift SemiBold SemiConden</vt:lpstr>
      <vt:lpstr>Gill Sans MT</vt:lpstr>
      <vt:lpstr>Wingdings</vt:lpstr>
      <vt:lpstr>Gallery</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INDUJA K</dc:creator>
  <cp:lastModifiedBy>INDUJA K</cp:lastModifiedBy>
  <cp:revision>1</cp:revision>
  <dcterms:created xsi:type="dcterms:W3CDTF">2026-08-27T18:03:36Z</dcterms:created>
  <dcterms:modified xsi:type="dcterms:W3CDTF">2026-08-27T19:31:21Z</dcterms:modified>
</cp:coreProperties>
</file>